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13"/>
    <p:sldId id="259" r:id="rId14"/>
    <p:sldId id="260" r:id="rId15"/>
    <p:sldId id="261" r:id="rId16"/>
    <p:sldId id="262" r:id="rId17"/>
    <p:sldId id="263" r:id="rId18"/>
    <p:sldId id="264" r:id="rId19"/>
    <p:sldId id="265" r:id="rId20"/>
    <p:sldId id="266" r:id="rId21"/>
    <p:sldId id="267" r:id="rId22"/>
    <p:sldId id="268" r:id="rId23"/>
  </p:sldIdLst>
  <p:sldSz cy="6858000" cx="12192000"/>
  <p:notesSz cx="6858000" cy="9144000"/>
  <p:embeddedFontLst>
    <p:embeddedFont>
      <p:font typeface="Fira Sans"/>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2" roundtripDataSignature="AMtx7mgv8UxGxe+gimfJlPZieiUCqCO5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FiraSans-regular.fntdata"/><Relationship Id="rId9" Type="http://schemas.openxmlformats.org/officeDocument/2006/relationships/font" Target="fonts/FiraSans-bold.fntdata"/><Relationship Id="rId10" Type="http://schemas.openxmlformats.org/officeDocument/2006/relationships/font" Target="fonts/FiraSans-italic.fntdata"/><Relationship Id="rId11" Type="http://schemas.openxmlformats.org/officeDocument/2006/relationships/font" Target="fonts/FiraSans-boldItalic.fntdata"/><Relationship Id="rId12" Type="http://customschemas.google.com/relationships/presentationmetadata" Target="metadata"/><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Good morning. Last time you gave us four points. Today we show each one is fixed and running live.</a:t>
            </a:r>
          </a:p>
        </p:txBody>
      </p:sp>
      <p:sp>
        <p:nvSpPr>
          <p:cNvPr id="78" name="Google Shape;7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 the four cards left to right, top to bottom. Each one is fixed and live on the deployed site. The next slides show each one with real screenshots, then we demo it live.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document goes through five people or steps. Alice asks, Marcus fills and signs, Hannah approves and signs, the admin anchors it on the blockchain, and anyone can verify it. Everything sensitive is encrypted in the database at every step.</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employee downloads a proof file. To check it you need only two things: that file and the public Polygon blockchain. Our server and database are not used at all. The screenshot on the right is the real checker: it says "No CareerVault API was called". eLocker needs you to trust their server. We need you to trust maths and a public blockchain.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Live demo: on the proof-file page we change the designation from Intern to CEO and run the checks again. Integrity fails immediately: the computed hash no longer matches the signed hash. The signatures still pass because they signed the original hash, which proves exactly what was changed.</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Last time the content column was readable JSON. Now the server encrypts it before saving, so the database only holds "cvenc:v1:..." text. The screenshot is our real production Supabase table, document_versions: content_json and change_summary are locked on every row. Without our secret key this is useless. Live: open Supabase, Table Editor, documents or document_versions.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There is one master key. It lives only on the server as a secret setting, never in the database or GitHub. For every row the server makes a fresh random key, locks the fields with AES-256-GCM, and stores only the locked text. When the app reads a row, a Prisma extension unlocks it automatically, so the app works the same. On top of that, Supabase encrypts the whole disk with AES-256 and uses TLS.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night at midnight, or when the admin clicks Anchor now: we collect issued documents, build a Merkle tree, and our wallet sends the root to our smart contract on Polygon Amoy. We wait for confirmation and save the transaction hash in our database. The screenshot is the real transaction on PolygonScan: status Success, function Anchor Root, from our wallet to our contract.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the admin screen with the Anchor now button and the list of batches. Right: on PolygonScan we paste the root into verifyRoot and click Query. It answers exists = true, with the time and our wallet. That answer comes from the blockchain itself, not from our server.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 1 JCS: sort the keys so the same data always becomes the same text. Step 2: add 32 random bytes of salt at the end. Step 3: SHA-256 gives the 64-character fingerprint. Step 4: the manager and HR each sign with TechCorp's RSA-2048 key, at the moment they click. Step 5: at midnight or Anchor now, many hashes become one Merkle root that goes on Polygon. The grey values are real, from Alice's anchored salary proof.</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they ask why: JCS so the same data always gives the same hash. Salt so nobody can guess a salary from the public hash, and deleting the salt is our GDPR erase. SHA-256 so one changed letter gives a totally different hash. RSA so we know TechCorp's manager and HR really approved it. Merkle so one cheap transaction covers many documents and no personal data goes on-chain.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four are done and running on the deployed site. Now we show it live, in this order: issue a document, show the encrypted row in Supabase, anchor it on Polygon, then verify the downloaded file without our server.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you. Happy to take questions, or go straight into the live demo.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rgbClr val="A42530"/>
              </a:buClr>
              <a:buSzPts val="6000"/>
              <a:buFont typeface="Marcellus"/>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rgbClr val="4D4D4C"/>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90000"/>
              </a:lnSpc>
              <a:spcBef>
                <a:spcPts val="500"/>
              </a:spcBef>
              <a:spcAft>
                <a:spcPts val="0"/>
              </a:spcAft>
              <a:buClr>
                <a:srgbClr val="4D4D4C"/>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rgbClr val="4D4D4C"/>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rgbClr val="4D4D4C"/>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rgbClr val="4D4D4C"/>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14" name="Google Shape;14;p5"/>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5"/>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5"/>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 name="Shape 17"/>
        <p:cNvGrpSpPr/>
        <p:nvPr/>
      </p:nvGrpSpPr>
      <p:grpSpPr>
        <a:xfrm>
          <a:off x="0" y="0"/>
          <a:ext cx="0" cy="0"/>
          <a:chOff x="0" y="0"/>
          <a:chExt cx="0" cy="0"/>
        </a:xfrm>
      </p:grpSpPr>
      <p:sp>
        <p:nvSpPr>
          <p:cNvPr id="18" name="Google Shape;18;p12"/>
          <p:cNvSpPr txBox="1"/>
          <p:nvPr>
            <p:ph type="title"/>
          </p:nvPr>
        </p:nvSpPr>
        <p:spPr>
          <a:xfrm>
            <a:off x="839788" y="987424"/>
            <a:ext cx="3932237" cy="106997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A42530"/>
              </a:buClr>
              <a:buSzPts val="3200"/>
              <a:buFont typeface="Marcellus"/>
              <a:buNone/>
              <a:defRPr b="0"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90000"/>
              </a:lnSpc>
              <a:spcBef>
                <a:spcPts val="1000"/>
              </a:spcBef>
              <a:spcAft>
                <a:spcPts val="0"/>
              </a:spcAft>
              <a:buClr>
                <a:srgbClr val="4D4D4C"/>
              </a:buClr>
              <a:buSzPts val="3200"/>
              <a:buFont typeface="Arial"/>
              <a:buChar char="•"/>
              <a:defRPr b="0" i="0" sz="3200" u="none" cap="none" strike="noStrike">
                <a:solidFill>
                  <a:srgbClr val="000000"/>
                </a:solidFill>
                <a:latin typeface="Arial"/>
                <a:ea typeface="Arial"/>
                <a:cs typeface="Arial"/>
                <a:sym typeface="Arial"/>
              </a:defRPr>
            </a:lvl1pPr>
            <a:lvl2pPr indent="-406400" lvl="1" marL="914400" marR="0" rtl="0" algn="l">
              <a:lnSpc>
                <a:spcPct val="90000"/>
              </a:lnSpc>
              <a:spcBef>
                <a:spcPts val="500"/>
              </a:spcBef>
              <a:spcAft>
                <a:spcPts val="0"/>
              </a:spcAft>
              <a:buClr>
                <a:srgbClr val="4D4D4C"/>
              </a:buClr>
              <a:buSzPts val="2800"/>
              <a:buFont typeface="Arial"/>
              <a:buChar char="•"/>
              <a:defRPr b="0" i="0" sz="2800" u="none" cap="none" strike="noStrike">
                <a:solidFill>
                  <a:srgbClr val="000000"/>
                </a:solidFill>
                <a:latin typeface="Arial"/>
                <a:ea typeface="Arial"/>
                <a:cs typeface="Arial"/>
                <a:sym typeface="Arial"/>
              </a:defRPr>
            </a:lvl2pPr>
            <a:lvl3pPr indent="-381000" lvl="2" marL="1371600" marR="0" rtl="0" algn="l">
              <a:lnSpc>
                <a:spcPct val="90000"/>
              </a:lnSpc>
              <a:spcBef>
                <a:spcPts val="500"/>
              </a:spcBef>
              <a:spcAft>
                <a:spcPts val="0"/>
              </a:spcAft>
              <a:buClr>
                <a:srgbClr val="4D4D4C"/>
              </a:buClr>
              <a:buSzPts val="2400"/>
              <a:buFont typeface="Arial"/>
              <a:buChar char="•"/>
              <a:defRPr b="0" i="0" sz="2400" u="none" cap="none" strike="noStrike">
                <a:solidFill>
                  <a:srgbClr val="000000"/>
                </a:solidFill>
                <a:latin typeface="Arial"/>
                <a:ea typeface="Arial"/>
                <a:cs typeface="Arial"/>
                <a:sym typeface="Arial"/>
              </a:defRPr>
            </a:lvl3pPr>
            <a:lvl4pPr indent="-355600" lvl="3" marL="1828800" marR="0" rtl="0" algn="l">
              <a:lnSpc>
                <a:spcPct val="90000"/>
              </a:lnSpc>
              <a:spcBef>
                <a:spcPts val="500"/>
              </a:spcBef>
              <a:spcAft>
                <a:spcPts val="0"/>
              </a:spcAft>
              <a:buClr>
                <a:srgbClr val="4D4D4C"/>
              </a:buClr>
              <a:buSzPts val="2000"/>
              <a:buFont typeface="Arial"/>
              <a:buChar char="•"/>
              <a:defRPr b="0" i="0" sz="2000" u="none" cap="none" strike="noStrike">
                <a:solidFill>
                  <a:srgbClr val="000000"/>
                </a:solidFill>
                <a:latin typeface="Arial"/>
                <a:ea typeface="Arial"/>
                <a:cs typeface="Arial"/>
                <a:sym typeface="Arial"/>
              </a:defRPr>
            </a:lvl4pPr>
            <a:lvl5pPr indent="-355600" lvl="4" marL="2286000" marR="0" rtl="0" algn="l">
              <a:lnSpc>
                <a:spcPct val="90000"/>
              </a:lnSpc>
              <a:spcBef>
                <a:spcPts val="500"/>
              </a:spcBef>
              <a:spcAft>
                <a:spcPts val="0"/>
              </a:spcAft>
              <a:buClr>
                <a:srgbClr val="4D4D4C"/>
              </a:buClr>
              <a:buSzPts val="2000"/>
              <a:buFont typeface="Arial"/>
              <a:buChar char="•"/>
              <a:defRPr b="0" i="0" sz="2000" u="none" cap="none" strike="noStrike">
                <a:solidFill>
                  <a:srgbClr val="000000"/>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9pPr>
          </a:lstStyle>
          <a:p/>
        </p:txBody>
      </p:sp>
      <p:sp>
        <p:nvSpPr>
          <p:cNvPr id="20" name="Google Shape;20;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4D4D4C"/>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rgbClr val="4D4D4C"/>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rgbClr val="4D4D4C"/>
              </a:buClr>
              <a:buSzPts val="1000"/>
              <a:buFont typeface="Arial"/>
              <a:buNone/>
              <a:defRPr b="0" i="0" sz="10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rgbClr val="4D4D4C"/>
              </a:buClr>
              <a:buSzPts val="1000"/>
              <a:buFont typeface="Arial"/>
              <a:buNone/>
              <a:defRPr b="0" i="0" sz="10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9pPr>
          </a:lstStyle>
          <a:p/>
        </p:txBody>
      </p:sp>
      <p:sp>
        <p:nvSpPr>
          <p:cNvPr id="21" name="Google Shape;21;p12"/>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12"/>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12"/>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10"/>
          <p:cNvSpPr txBox="1"/>
          <p:nvPr>
            <p:ph type="title"/>
          </p:nvPr>
        </p:nvSpPr>
        <p:spPr>
          <a:xfrm>
            <a:off x="838200" y="866274"/>
            <a:ext cx="10515600" cy="82441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42530"/>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p10"/>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10"/>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1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 name="Shape 29"/>
        <p:cNvGrpSpPr/>
        <p:nvPr/>
      </p:nvGrpSpPr>
      <p:grpSpPr>
        <a:xfrm>
          <a:off x="0" y="0"/>
          <a:ext cx="0" cy="0"/>
          <a:chOff x="0" y="0"/>
          <a:chExt cx="0" cy="0"/>
        </a:xfrm>
      </p:grpSpPr>
      <p:sp>
        <p:nvSpPr>
          <p:cNvPr id="30" name="Google Shape;30;p13"/>
          <p:cNvSpPr txBox="1"/>
          <p:nvPr>
            <p:ph type="title"/>
          </p:nvPr>
        </p:nvSpPr>
        <p:spPr>
          <a:xfrm>
            <a:off x="839788" y="987424"/>
            <a:ext cx="3932237" cy="106997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A42530"/>
              </a:buClr>
              <a:buSzPts val="3200"/>
              <a:buFont typeface="Marcellus"/>
              <a:buNone/>
              <a:defRPr b="0"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13"/>
          <p:cNvSpPr/>
          <p:nvPr>
            <p:ph idx="2" type="pic"/>
          </p:nvPr>
        </p:nvSpPr>
        <p:spPr>
          <a:xfrm>
            <a:off x="5183188" y="987425"/>
            <a:ext cx="6172200" cy="4873625"/>
          </a:xfrm>
          <a:prstGeom prst="rect">
            <a:avLst/>
          </a:prstGeom>
          <a:noFill/>
          <a:ln>
            <a:noFill/>
          </a:ln>
        </p:spPr>
      </p:sp>
      <p:sp>
        <p:nvSpPr>
          <p:cNvPr id="32" name="Google Shape;32;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4D4D4C"/>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rgbClr val="4D4D4C"/>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rgbClr val="4D4D4C"/>
              </a:buClr>
              <a:buSzPts val="1000"/>
              <a:buFont typeface="Arial"/>
              <a:buNone/>
              <a:defRPr b="0" i="0" sz="10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rgbClr val="4D4D4C"/>
              </a:buClr>
              <a:buSzPts val="1000"/>
              <a:buFont typeface="Arial"/>
              <a:buNone/>
              <a:defRPr b="0" i="0" sz="10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9pPr>
          </a:lstStyle>
          <a:p/>
        </p:txBody>
      </p:sp>
      <p:sp>
        <p:nvSpPr>
          <p:cNvPr id="33" name="Google Shape;33;p13"/>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p13"/>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p13"/>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6"/>
          <p:cNvSpPr/>
          <p:nvPr/>
        </p:nvSpPr>
        <p:spPr>
          <a:xfrm>
            <a:off x="0" y="5680472"/>
            <a:ext cx="838200" cy="1190779"/>
          </a:xfrm>
          <a:prstGeom prst="rect">
            <a:avLst/>
          </a:prstGeom>
          <a:solidFill>
            <a:srgbClr val="A425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 name="Google Shape;38;p6"/>
          <p:cNvSpPr/>
          <p:nvPr/>
        </p:nvSpPr>
        <p:spPr>
          <a:xfrm>
            <a:off x="838199" y="6356350"/>
            <a:ext cx="9331411" cy="514901"/>
          </a:xfrm>
          <a:prstGeom prst="rect">
            <a:avLst/>
          </a:prstGeom>
          <a:solidFill>
            <a:srgbClr val="A425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Fira Sans"/>
              <a:ea typeface="Fira Sans"/>
              <a:cs typeface="Fira Sans"/>
              <a:sym typeface="Fira Sans"/>
            </a:endParaRPr>
          </a:p>
        </p:txBody>
      </p:sp>
      <p:sp>
        <p:nvSpPr>
          <p:cNvPr id="39" name="Google Shape;39;p6"/>
          <p:cNvSpPr txBox="1"/>
          <p:nvPr>
            <p:ph type="title"/>
          </p:nvPr>
        </p:nvSpPr>
        <p:spPr>
          <a:xfrm>
            <a:off x="838200" y="866274"/>
            <a:ext cx="10515600" cy="82441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42530"/>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 name="Google Shape;40;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41" name="Google Shape;41;p6"/>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p6"/>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3" name="Google Shape;43;p6"/>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838200" y="866274"/>
            <a:ext cx="10515600" cy="82441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42530"/>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 name="Google Shape;4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47" name="Google Shape;4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48" name="Google Shape;48;p7"/>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9" name="Google Shape;49;p7"/>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Google Shape;50;p7"/>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A42530"/>
              </a:buClr>
              <a:buSzPts val="6000"/>
              <a:buFont typeface="Marcellus"/>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9pPr>
          </a:lstStyle>
          <a:p/>
        </p:txBody>
      </p:sp>
      <p:sp>
        <p:nvSpPr>
          <p:cNvPr id="54" name="Google Shape;54;p8"/>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8"/>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8"/>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9"/>
          <p:cNvSpPr txBox="1"/>
          <p:nvPr>
            <p:ph type="title"/>
          </p:nvPr>
        </p:nvSpPr>
        <p:spPr>
          <a:xfrm>
            <a:off x="839788" y="866776"/>
            <a:ext cx="10515600" cy="82391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42530"/>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9" name="Google Shape;59;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1000"/>
              </a:spcBef>
              <a:spcAft>
                <a:spcPts val="0"/>
              </a:spcAft>
              <a:buClr>
                <a:srgbClr val="4D4D4C"/>
              </a:buClr>
              <a:buSzPts val="2400"/>
              <a:buFont typeface="Arial"/>
              <a:buNone/>
              <a:defRPr b="1" i="0" sz="24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rgbClr val="4D4D4C"/>
              </a:buClr>
              <a:buSzPts val="2000"/>
              <a:buFont typeface="Arial"/>
              <a:buNone/>
              <a:defRPr b="1" i="0" sz="20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rgbClr val="4D4D4C"/>
              </a:buClr>
              <a:buSzPts val="1800"/>
              <a:buFont typeface="Arial"/>
              <a:buNone/>
              <a:defRPr b="1" i="0" sz="18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rgbClr val="4D4D4C"/>
              </a:buClr>
              <a:buSzPts val="1600"/>
              <a:buFont typeface="Arial"/>
              <a:buNone/>
              <a:defRPr b="1" i="0" sz="16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rgbClr val="4D4D4C"/>
              </a:buClr>
              <a:buSzPts val="1600"/>
              <a:buFont typeface="Arial"/>
              <a:buNone/>
              <a:defRPr b="1" i="0" sz="16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9pPr>
          </a:lstStyle>
          <a:p/>
        </p:txBody>
      </p:sp>
      <p:sp>
        <p:nvSpPr>
          <p:cNvPr id="60" name="Google Shape;60;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61" name="Google Shape;61;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1000"/>
              </a:spcBef>
              <a:spcAft>
                <a:spcPts val="0"/>
              </a:spcAft>
              <a:buClr>
                <a:srgbClr val="4D4D4C"/>
              </a:buClr>
              <a:buSzPts val="2400"/>
              <a:buFont typeface="Arial"/>
              <a:buNone/>
              <a:defRPr b="1" i="0" sz="24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rgbClr val="4D4D4C"/>
              </a:buClr>
              <a:buSzPts val="2000"/>
              <a:buFont typeface="Arial"/>
              <a:buNone/>
              <a:defRPr b="1" i="0" sz="20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rgbClr val="4D4D4C"/>
              </a:buClr>
              <a:buSzPts val="1800"/>
              <a:buFont typeface="Arial"/>
              <a:buNone/>
              <a:defRPr b="1" i="0" sz="18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rgbClr val="4D4D4C"/>
              </a:buClr>
              <a:buSzPts val="1600"/>
              <a:buFont typeface="Arial"/>
              <a:buNone/>
              <a:defRPr b="1" i="0" sz="16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rgbClr val="4D4D4C"/>
              </a:buClr>
              <a:buSzPts val="1600"/>
              <a:buFont typeface="Arial"/>
              <a:buNone/>
              <a:defRPr b="1" i="0" sz="16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9pPr>
          </a:lstStyle>
          <a:p/>
        </p:txBody>
      </p:sp>
      <p:sp>
        <p:nvSpPr>
          <p:cNvPr id="62" name="Google Shape;62;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63" name="Google Shape;63;p9"/>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9"/>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p9"/>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1"/>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11"/>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 name="Google Shape;69;p11"/>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4"/>
          <p:cNvSpPr txBox="1"/>
          <p:nvPr>
            <p:ph type="title"/>
          </p:nvPr>
        </p:nvSpPr>
        <p:spPr>
          <a:xfrm>
            <a:off x="838200" y="866274"/>
            <a:ext cx="10515600" cy="82441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42530"/>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 name="Google Shape;72;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rgbClr val="4D4D4C"/>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73" name="Google Shape;73;p14"/>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 name="Google Shape;74;p14"/>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5" name="Google Shape;75;p14"/>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p:nvPr/>
        </p:nvSpPr>
        <p:spPr>
          <a:xfrm>
            <a:off x="0" y="6080760"/>
            <a:ext cx="838200" cy="790491"/>
          </a:xfrm>
          <a:prstGeom prst="rect">
            <a:avLst/>
          </a:prstGeom>
          <a:solidFill>
            <a:srgbClr val="A425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 name="Google Shape;7;p4"/>
          <p:cNvSpPr/>
          <p:nvPr/>
        </p:nvSpPr>
        <p:spPr>
          <a:xfrm>
            <a:off x="10169610" y="6356350"/>
            <a:ext cx="2022390" cy="514900"/>
          </a:xfrm>
          <a:prstGeom prst="rect">
            <a:avLst/>
          </a:prstGeom>
          <a:solidFill>
            <a:srgbClr val="D9222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 name="Google Shape;8;p4"/>
          <p:cNvSpPr/>
          <p:nvPr/>
        </p:nvSpPr>
        <p:spPr>
          <a:xfrm>
            <a:off x="838199" y="6356350"/>
            <a:ext cx="9331411" cy="514901"/>
          </a:xfrm>
          <a:prstGeom prst="rect">
            <a:avLst/>
          </a:prstGeom>
          <a:solidFill>
            <a:srgbClr val="A425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Fira Sans"/>
              <a:ea typeface="Fira Sans"/>
              <a:cs typeface="Fira Sans"/>
              <a:sym typeface="Fira Sans"/>
            </a:endParaRPr>
          </a:p>
        </p:txBody>
      </p:sp>
      <p:pic>
        <p:nvPicPr>
          <p:cNvPr descr="Graphical user interface, text, application&#10;&#10;Description automatically generated" id="9" name="Google Shape;9;p4"/>
          <p:cNvPicPr preferRelativeResize="0"/>
          <p:nvPr/>
        </p:nvPicPr>
        <p:blipFill rotWithShape="1">
          <a:blip r:embed="rId1">
            <a:alphaModFix/>
          </a:blip>
          <a:srcRect b="0" l="0" r="0" t="0"/>
          <a:stretch/>
        </p:blipFill>
        <p:spPr>
          <a:xfrm>
            <a:off x="11124596" y="226123"/>
            <a:ext cx="728472" cy="539609"/>
          </a:xfrm>
          <a:prstGeom prst="rect">
            <a:avLst/>
          </a:prstGeom>
          <a:noFill/>
          <a:ln>
            <a:noFill/>
          </a:ln>
        </p:spPr>
      </p:pic>
      <p:pic>
        <p:nvPicPr>
          <p:cNvPr id="10" name="Google Shape;10;p4"/>
          <p:cNvPicPr preferRelativeResize="0"/>
          <p:nvPr/>
        </p:nvPicPr>
        <p:blipFill rotWithShape="1">
          <a:blip r:embed="rId2">
            <a:alphaModFix/>
          </a:blip>
          <a:srcRect b="0" l="0" r="0" t="0"/>
          <a:stretch/>
        </p:blipFill>
        <p:spPr>
          <a:xfrm>
            <a:off x="193862" y="141576"/>
            <a:ext cx="2316256" cy="70870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ph type="ctrTitle"/>
          </p:nvPr>
        </p:nvSpPr>
        <p:spPr>
          <a:xfrm>
            <a:off x="548640" y="896112"/>
            <a:ext cx="11091672" cy="56692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A42530"/>
              </a:buClr>
              <a:buSzPct val="136054"/>
              <a:buFont typeface="Marcellus"/>
              <a:buNone/>
            </a:pPr>
            <a:r>
              <a:rPr sz="2800" b="1" i="0">
                <a:solidFill>
                  <a:srgbClr val="1F1F1F"/>
                </a:solidFill>
                <a:latin typeface="Arial"/>
              </a:rPr>
              <a:t>CareerVault: How We Fixed the 4 Evaluation Points</a:t>
            </a:r>
            <a:endParaRPr/>
          </a:p>
        </p:txBody>
      </p:sp>
      <p:sp>
        <p:nvSpPr>
          <p:cNvPr id="81" name="Google Shape;81;p2"/>
          <p:cNvSpPr txBox="1"/>
          <p:nvPr>
            <p:ph idx="1" type="subTitle"/>
          </p:nvPr>
        </p:nvSpPr>
        <p:spPr>
          <a:xfrm>
            <a:off x="548640" y="1463040"/>
            <a:ext cx="11091672" cy="73152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None/>
            </a:pPr>
            <a:r>
              <a:rPr sz="1600" b="0" i="0">
                <a:solidFill>
                  <a:srgbClr val="1F1F1F"/>
                </a:solidFill>
                <a:latin typeface="Arial"/>
              </a:rPr>
              <a:t>Aaryan Sharma  ·  Aditya Baheti  ·  Anamay Narkar  ·  Anuj Madke</a:t>
            </a:r>
            <a:endParaRPr/>
          </a:p>
          <a:p>
            <a:pPr algn="ctr"/>
            <a:r>
              <a:rPr sz="1400" b="0" i="0">
                <a:solidFill>
                  <a:srgbClr val="555555"/>
                </a:solidFill>
                <a:latin typeface="Arial"/>
              </a:rPr>
              <a:t>LY Project Evaluation  ·  K J Somaiya School of Engineering</a:t>
            </a:r>
          </a:p>
        </p:txBody>
      </p:sp>
      <p:pic>
        <p:nvPicPr>
          <p:cNvPr id="82" name="Google Shape;82;p2"/>
          <p:cNvPicPr preferRelativeResize="0"/>
          <p:nvPr/>
        </p:nvPicPr>
        <p:blipFill rotWithShape="1">
          <a:blip r:embed="rId3">
            <a:alphaModFix/>
          </a:blip>
          <a:srcRect b="0" l="0" r="0" t="0"/>
          <a:stretch/>
        </p:blipFill>
        <p:spPr>
          <a:xfrm>
            <a:off x="35518" y="2274354"/>
            <a:ext cx="6052457" cy="3512457"/>
          </a:xfrm>
          <a:prstGeom prst="rect">
            <a:avLst/>
          </a:prstGeom>
          <a:noFill/>
          <a:ln>
            <a:noFill/>
          </a:ln>
        </p:spPr>
      </p:pic>
      <p:pic>
        <p:nvPicPr>
          <p:cNvPr id="83" name="Google Shape;83;p2"/>
          <p:cNvPicPr preferRelativeResize="0"/>
          <p:nvPr/>
        </p:nvPicPr>
        <p:blipFill rotWithShape="1">
          <a:blip r:embed="rId4">
            <a:alphaModFix/>
          </a:blip>
          <a:srcRect b="0" l="0" r="59220" t="0"/>
          <a:stretch/>
        </p:blipFill>
        <p:spPr>
          <a:xfrm rot="-5400000">
            <a:off x="7424061" y="1000149"/>
            <a:ext cx="3512457" cy="6023426"/>
          </a:xfrm>
          <a:prstGeom prst="rect">
            <a:avLst/>
          </a:prstGeom>
          <a:noFill/>
          <a:ln>
            <a:noFill/>
          </a:ln>
        </p:spPr>
      </p:pic>
      <p:sp>
        <p:nvSpPr>
          <p:cNvPr id="84" name="Google Shape;84;p2"/>
          <p:cNvSpPr txBox="1"/>
          <p:nvPr>
            <p:ph idx="10" type="dt"/>
          </p:nvPr>
        </p:nvSpPr>
        <p:spPr>
          <a:xfrm>
            <a:off x="838200" y="5843197"/>
            <a:ext cx="2743200" cy="49649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3F3F3F"/>
              </a:solidFill>
              <a:latin typeface="Arial"/>
              <a:ea typeface="Arial"/>
              <a:cs typeface="Arial"/>
              <a:sym typeface="Arial"/>
            </a:endParaRPr>
          </a:p>
        </p:txBody>
      </p:sp>
      <p:sp>
        <p:nvSpPr>
          <p:cNvPr id="85" name="Google Shape;85;p2"/>
          <p:cNvSpPr txBox="1"/>
          <p:nvPr>
            <p:ph idx="11" type="ftr"/>
          </p:nvPr>
        </p:nvSpPr>
        <p:spPr>
          <a:xfrm>
            <a:off x="4038600" y="5843197"/>
            <a:ext cx="4114800" cy="514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b="0" i="0" sz="1400" u="none" cap="none" strike="noStrike">
              <a:solidFill>
                <a:srgbClr val="3F3F3F"/>
              </a:solidFill>
              <a:latin typeface="Arial"/>
              <a:ea typeface="Arial"/>
              <a:cs typeface="Arial"/>
              <a:sym typeface="Arial"/>
            </a:endParaRPr>
          </a:p>
        </p:txBody>
      </p:sp>
      <p:sp>
        <p:nvSpPr>
          <p:cNvPr id="86" name="Google Shape;86;p2"/>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1F1F1F"/>
                </a:solidFill>
                <a:latin typeface="Arial"/>
              </a:rPr>
              <a:t>Your 4 points, and what we did</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Rounded Rectangle 91"/>
          <p:cNvSpPr/>
          <p:nvPr/>
        </p:nvSpPr>
        <p:spPr>
          <a:xfrm>
            <a:off x="548640" y="1783080"/>
            <a:ext cx="54406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77240" y="205740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1</a:t>
            </a:r>
          </a:p>
        </p:txBody>
      </p:sp>
      <p:sp>
        <p:nvSpPr>
          <p:cNvPr id="94" name="Rounded Rectangle 93"/>
          <p:cNvSpPr/>
          <p:nvPr/>
        </p:nvSpPr>
        <p:spPr>
          <a:xfrm>
            <a:off x="4800600" y="2057400"/>
            <a:ext cx="96012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FIXED</a:t>
            </a:r>
          </a:p>
        </p:txBody>
      </p:sp>
      <p:sp>
        <p:nvSpPr>
          <p:cNvPr id="95" name="TextBox 94"/>
          <p:cNvSpPr txBox="1"/>
          <p:nvPr/>
        </p:nvSpPr>
        <p:spPr>
          <a:xfrm>
            <a:off x="1508760" y="2011680"/>
            <a:ext cx="3200400" cy="1463040"/>
          </a:xfrm>
          <a:prstGeom prst="rect">
            <a:avLst/>
          </a:prstGeom>
          <a:noFill/>
        </p:spPr>
        <p:txBody>
          <a:bodyPr wrap="square" anchor="t" lIns="45720" rIns="45720">
            <a:spAutoFit/>
          </a:bodyPr>
          <a:lstStyle/>
          <a:p>
            <a:pPr algn="l">
              <a:spcAft>
                <a:spcPts val="800"/>
              </a:spcAft>
            </a:pPr>
            <a:r>
              <a:rPr sz="1500" b="1" i="0">
                <a:solidFill>
                  <a:srgbClr val="A42530"/>
                </a:solidFill>
                <a:latin typeface="Arial"/>
              </a:rPr>
              <a:t>Before: </a:t>
            </a:r>
            <a:r>
              <a:rPr sz="1500" b="0" i="0">
                <a:solidFill>
                  <a:srgbClr val="1F1F1F"/>
                </a:solidFill>
                <a:latin typeface="Arial"/>
              </a:rPr>
              <a:t>Records depended on our server</a:t>
            </a:r>
          </a:p>
          <a:p>
            <a:pPr algn="l">
              <a:spcAft>
                <a:spcPts val="800"/>
              </a:spcAft>
            </a:pPr>
            <a:r>
              <a:rPr sz="1500" b="1" i="0">
                <a:solidFill>
                  <a:srgbClr val="1E7B34"/>
                </a:solidFill>
                <a:latin typeface="Arial"/>
              </a:rPr>
              <a:t>Now: </a:t>
            </a:r>
            <a:r>
              <a:rPr sz="1500" b="0" i="0">
                <a:solidFill>
                  <a:srgbClr val="1F1F1F"/>
                </a:solidFill>
                <a:latin typeface="Arial"/>
              </a:rPr>
              <a:t>Employee gets a proof file. Anyone can verify it without our server.</a:t>
            </a:r>
          </a:p>
        </p:txBody>
      </p:sp>
      <p:sp>
        <p:nvSpPr>
          <p:cNvPr id="96" name="Rounded Rectangle 95"/>
          <p:cNvSpPr/>
          <p:nvPr/>
        </p:nvSpPr>
        <p:spPr>
          <a:xfrm>
            <a:off x="6172200" y="1783080"/>
            <a:ext cx="54406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6400800" y="205740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2</a:t>
            </a:r>
          </a:p>
        </p:txBody>
      </p:sp>
      <p:sp>
        <p:nvSpPr>
          <p:cNvPr id="98" name="Rounded Rectangle 97"/>
          <p:cNvSpPr/>
          <p:nvPr/>
        </p:nvSpPr>
        <p:spPr>
          <a:xfrm>
            <a:off x="10424160" y="2057400"/>
            <a:ext cx="96012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FIXED</a:t>
            </a:r>
          </a:p>
        </p:txBody>
      </p:sp>
      <p:sp>
        <p:nvSpPr>
          <p:cNvPr id="99" name="TextBox 98"/>
          <p:cNvSpPr txBox="1"/>
          <p:nvPr/>
        </p:nvSpPr>
        <p:spPr>
          <a:xfrm>
            <a:off x="7132320" y="2011680"/>
            <a:ext cx="3200400" cy="1463040"/>
          </a:xfrm>
          <a:prstGeom prst="rect">
            <a:avLst/>
          </a:prstGeom>
          <a:noFill/>
        </p:spPr>
        <p:txBody>
          <a:bodyPr wrap="square" anchor="t" lIns="45720" rIns="45720">
            <a:spAutoFit/>
          </a:bodyPr>
          <a:lstStyle/>
          <a:p>
            <a:pPr algn="l">
              <a:spcAft>
                <a:spcPts val="800"/>
              </a:spcAft>
            </a:pPr>
            <a:r>
              <a:rPr sz="1500" b="1" i="0">
                <a:solidFill>
                  <a:srgbClr val="A42530"/>
                </a:solidFill>
                <a:latin typeface="Arial"/>
              </a:rPr>
              <a:t>Before: </a:t>
            </a:r>
            <a:r>
              <a:rPr sz="1500" b="0" i="0">
                <a:solidFill>
                  <a:srgbClr val="1F1F1F"/>
                </a:solidFill>
                <a:latin typeface="Arial"/>
              </a:rPr>
              <a:t>Database stored plain text</a:t>
            </a:r>
          </a:p>
          <a:p>
            <a:pPr algn="l">
              <a:spcAft>
                <a:spcPts val="800"/>
              </a:spcAft>
            </a:pPr>
            <a:r>
              <a:rPr sz="1500" b="1" i="0">
                <a:solidFill>
                  <a:srgbClr val="1E7B34"/>
                </a:solidFill>
                <a:latin typeface="Arial"/>
              </a:rPr>
              <a:t>Now: </a:t>
            </a:r>
            <a:r>
              <a:rPr sz="1500" b="0" i="0">
                <a:solidFill>
                  <a:srgbClr val="1F1F1F"/>
                </a:solidFill>
                <a:latin typeface="Arial"/>
              </a:rPr>
              <a:t>Sensitive columns are encrypted (AES-256) before they are saved.</a:t>
            </a:r>
          </a:p>
        </p:txBody>
      </p:sp>
      <p:sp>
        <p:nvSpPr>
          <p:cNvPr id="100" name="Rounded Rectangle 99"/>
          <p:cNvSpPr/>
          <p:nvPr/>
        </p:nvSpPr>
        <p:spPr>
          <a:xfrm>
            <a:off x="548640" y="3794760"/>
            <a:ext cx="54406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77240" y="406908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3</a:t>
            </a:r>
          </a:p>
        </p:txBody>
      </p:sp>
      <p:sp>
        <p:nvSpPr>
          <p:cNvPr id="102" name="Rounded Rectangle 101"/>
          <p:cNvSpPr/>
          <p:nvPr/>
        </p:nvSpPr>
        <p:spPr>
          <a:xfrm>
            <a:off x="4800600" y="4069080"/>
            <a:ext cx="96012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FIXED</a:t>
            </a:r>
          </a:p>
        </p:txBody>
      </p:sp>
      <p:sp>
        <p:nvSpPr>
          <p:cNvPr id="103" name="TextBox 102"/>
          <p:cNvSpPr txBox="1"/>
          <p:nvPr/>
        </p:nvSpPr>
        <p:spPr>
          <a:xfrm>
            <a:off x="1508760" y="4023360"/>
            <a:ext cx="3200400" cy="1463040"/>
          </a:xfrm>
          <a:prstGeom prst="rect">
            <a:avLst/>
          </a:prstGeom>
          <a:noFill/>
        </p:spPr>
        <p:txBody>
          <a:bodyPr wrap="square" anchor="t" lIns="45720" rIns="45720">
            <a:spAutoFit/>
          </a:bodyPr>
          <a:lstStyle/>
          <a:p>
            <a:pPr algn="l">
              <a:spcAft>
                <a:spcPts val="800"/>
              </a:spcAft>
            </a:pPr>
            <a:r>
              <a:rPr sz="1500" b="1" i="0">
                <a:solidFill>
                  <a:srgbClr val="A42530"/>
                </a:solidFill>
                <a:latin typeface="Arial"/>
              </a:rPr>
              <a:t>Before: </a:t>
            </a:r>
            <a:r>
              <a:rPr sz="1500" b="0" i="0">
                <a:solidFill>
                  <a:srgbClr val="1F1F1F"/>
                </a:solidFill>
                <a:latin typeface="Arial"/>
              </a:rPr>
              <a:t>Blockchain was only simulated</a:t>
            </a:r>
          </a:p>
          <a:p>
            <a:pPr algn="l">
              <a:spcAft>
                <a:spcPts val="800"/>
              </a:spcAft>
            </a:pPr>
            <a:r>
              <a:rPr sz="1500" b="1" i="0">
                <a:solidFill>
                  <a:srgbClr val="1E7B34"/>
                </a:solidFill>
                <a:latin typeface="Arial"/>
              </a:rPr>
              <a:t>Now: </a:t>
            </a:r>
            <a:r>
              <a:rPr sz="1500" b="0" i="0">
                <a:solidFill>
                  <a:srgbClr val="1F1F1F"/>
                </a:solidFill>
                <a:latin typeface="Arial"/>
              </a:rPr>
              <a:t>Real smart contract on Polygon Amoy. Real transactions on PolygonScan.</a:t>
            </a:r>
          </a:p>
        </p:txBody>
      </p:sp>
      <p:sp>
        <p:nvSpPr>
          <p:cNvPr id="104" name="Rounded Rectangle 103"/>
          <p:cNvSpPr/>
          <p:nvPr/>
        </p:nvSpPr>
        <p:spPr>
          <a:xfrm>
            <a:off x="6172200" y="3794760"/>
            <a:ext cx="54406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6400800" y="406908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4</a:t>
            </a:r>
          </a:p>
        </p:txBody>
      </p:sp>
      <p:sp>
        <p:nvSpPr>
          <p:cNvPr id="106" name="Rounded Rectangle 105"/>
          <p:cNvSpPr/>
          <p:nvPr/>
        </p:nvSpPr>
        <p:spPr>
          <a:xfrm>
            <a:off x="10424160" y="4069080"/>
            <a:ext cx="96012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FIXED</a:t>
            </a:r>
          </a:p>
        </p:txBody>
      </p:sp>
      <p:sp>
        <p:nvSpPr>
          <p:cNvPr id="107" name="TextBox 106"/>
          <p:cNvSpPr txBox="1"/>
          <p:nvPr/>
        </p:nvSpPr>
        <p:spPr>
          <a:xfrm>
            <a:off x="7132320" y="4023360"/>
            <a:ext cx="3200400" cy="1463040"/>
          </a:xfrm>
          <a:prstGeom prst="rect">
            <a:avLst/>
          </a:prstGeom>
          <a:noFill/>
        </p:spPr>
        <p:txBody>
          <a:bodyPr wrap="square" anchor="t" lIns="45720" rIns="45720">
            <a:spAutoFit/>
          </a:bodyPr>
          <a:lstStyle/>
          <a:p>
            <a:pPr algn="l">
              <a:spcAft>
                <a:spcPts val="800"/>
              </a:spcAft>
            </a:pPr>
            <a:r>
              <a:rPr sz="1500" b="1" i="0">
                <a:solidFill>
                  <a:srgbClr val="A42530"/>
                </a:solidFill>
                <a:latin typeface="Arial"/>
              </a:rPr>
              <a:t>Before: </a:t>
            </a:r>
            <a:r>
              <a:rPr sz="1500" b="0" i="0">
                <a:solidFill>
                  <a:srgbClr val="1F1F1F"/>
                </a:solidFill>
                <a:latin typeface="Arial"/>
              </a:rPr>
              <a:t>Explain the hashing exactly</a:t>
            </a:r>
          </a:p>
          <a:p>
            <a:pPr algn="l">
              <a:spcAft>
                <a:spcPts val="800"/>
              </a:spcAft>
            </a:pPr>
            <a:r>
              <a:rPr sz="1500" b="1" i="0">
                <a:solidFill>
                  <a:srgbClr val="1E7B34"/>
                </a:solidFill>
                <a:latin typeface="Arial"/>
              </a:rPr>
              <a:t>Now: </a:t>
            </a:r>
            <a:r>
              <a:rPr sz="1500" b="0" i="0">
                <a:solidFill>
                  <a:srgbClr val="1F1F1F"/>
                </a:solidFill>
                <a:latin typeface="Arial"/>
              </a:rPr>
              <a:t>Fixed 5 steps: JCS → salt → SHA-256 → RSA signatures → Merkle root.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1F1F1F"/>
                </a:solidFill>
                <a:latin typeface="Arial"/>
              </a:rPr>
              <a:t>How CareerVault works (one document, start to end)</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Rounded Rectangle 91"/>
          <p:cNvSpPr/>
          <p:nvPr/>
        </p:nvSpPr>
        <p:spPr>
          <a:xfrm>
            <a:off x="548640" y="2011680"/>
            <a:ext cx="192024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800" b="1" i="0">
                <a:solidFill>
                  <a:srgbClr val="A42530"/>
                </a:solidFill>
                <a:latin typeface="Arial"/>
              </a:rPr>
              <a:t>Holder</a:t>
            </a:r>
          </a:p>
          <a:p>
            <a:pPr algn="ctr">
              <a:spcAft>
                <a:spcPts val="600"/>
              </a:spcAft>
            </a:pPr>
            <a:r>
              <a:rPr sz="1400" b="0" i="0">
                <a:solidFill>
                  <a:srgbClr val="1F1F1F"/>
                </a:solidFill>
                <a:latin typeface="Arial"/>
              </a:rPr>
              <a:t>Asks TechCorp for an experience letter</a:t>
            </a:r>
          </a:p>
        </p:txBody>
      </p:sp>
      <p:sp>
        <p:nvSpPr>
          <p:cNvPr id="93" name="TextBox 92"/>
          <p:cNvSpPr txBox="1"/>
          <p:nvPr/>
        </p:nvSpPr>
        <p:spPr>
          <a:xfrm>
            <a:off x="548640" y="3703320"/>
            <a:ext cx="1920240" cy="731520"/>
          </a:xfrm>
          <a:prstGeom prst="rect">
            <a:avLst/>
          </a:prstGeom>
          <a:noFill/>
        </p:spPr>
        <p:txBody>
          <a:bodyPr wrap="square" anchor="t" lIns="45720" rIns="45720">
            <a:spAutoFit/>
          </a:bodyPr>
          <a:lstStyle/>
          <a:p>
            <a:pPr algn="ctr">
              <a:spcAft>
                <a:spcPts val="600"/>
              </a:spcAft>
            </a:pPr>
            <a:r>
              <a:rPr sz="1300" b="0" i="0">
                <a:solidFill>
                  <a:srgbClr val="555555"/>
                </a:solidFill>
                <a:latin typeface="Arial"/>
              </a:rPr>
              <a:t>Only a request is saved</a:t>
            </a:r>
          </a:p>
        </p:txBody>
      </p:sp>
      <p:sp>
        <p:nvSpPr>
          <p:cNvPr id="94" name="Right Arrow 93"/>
          <p:cNvSpPr/>
          <p:nvPr/>
        </p:nvSpPr>
        <p:spPr>
          <a:xfrm>
            <a:off x="2514600" y="2606040"/>
            <a:ext cx="30175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2862072" y="2011680"/>
            <a:ext cx="192024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800" b="1" i="0">
                <a:solidFill>
                  <a:srgbClr val="A42530"/>
                </a:solidFill>
                <a:latin typeface="Arial"/>
              </a:rPr>
              <a:t>Manager</a:t>
            </a:r>
          </a:p>
          <a:p>
            <a:pPr algn="ctr">
              <a:spcAft>
                <a:spcPts val="600"/>
              </a:spcAft>
            </a:pPr>
            <a:r>
              <a:rPr sz="1400" b="0" i="0">
                <a:solidFill>
                  <a:srgbClr val="1F1F1F"/>
                </a:solidFill>
                <a:latin typeface="Arial"/>
              </a:rPr>
              <a:t>Fills in the details and signs</a:t>
            </a:r>
          </a:p>
        </p:txBody>
      </p:sp>
      <p:sp>
        <p:nvSpPr>
          <p:cNvPr id="96" name="TextBox 95"/>
          <p:cNvSpPr txBox="1"/>
          <p:nvPr/>
        </p:nvSpPr>
        <p:spPr>
          <a:xfrm>
            <a:off x="2862072" y="3703320"/>
            <a:ext cx="1920240" cy="731520"/>
          </a:xfrm>
          <a:prstGeom prst="rect">
            <a:avLst/>
          </a:prstGeom>
          <a:noFill/>
        </p:spPr>
        <p:txBody>
          <a:bodyPr wrap="square" anchor="t" lIns="45720" rIns="45720">
            <a:spAutoFit/>
          </a:bodyPr>
          <a:lstStyle/>
          <a:p>
            <a:pPr algn="ctr">
              <a:spcAft>
                <a:spcPts val="600"/>
              </a:spcAft>
            </a:pPr>
            <a:r>
              <a:rPr sz="1300" b="0" i="0">
                <a:solidFill>
                  <a:srgbClr val="555555"/>
                </a:solidFill>
                <a:latin typeface="Arial"/>
              </a:rPr>
              <a:t>Hash + 1st RSA signature</a:t>
            </a:r>
          </a:p>
        </p:txBody>
      </p:sp>
      <p:sp>
        <p:nvSpPr>
          <p:cNvPr id="97" name="Right Arrow 96"/>
          <p:cNvSpPr/>
          <p:nvPr/>
        </p:nvSpPr>
        <p:spPr>
          <a:xfrm>
            <a:off x="4828031" y="2606040"/>
            <a:ext cx="30175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5175503" y="2011680"/>
            <a:ext cx="192024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800" b="1" i="0">
                <a:solidFill>
                  <a:srgbClr val="A42530"/>
                </a:solidFill>
                <a:latin typeface="Arial"/>
              </a:rPr>
              <a:t>HR</a:t>
            </a:r>
          </a:p>
          <a:p>
            <a:pPr algn="ctr">
              <a:spcAft>
                <a:spcPts val="600"/>
              </a:spcAft>
            </a:pPr>
            <a:r>
              <a:rPr sz="1400" b="0" i="0">
                <a:solidFill>
                  <a:srgbClr val="1F1F1F"/>
                </a:solidFill>
                <a:latin typeface="Arial"/>
              </a:rPr>
              <a:t>Checks and approves</a:t>
            </a:r>
          </a:p>
        </p:txBody>
      </p:sp>
      <p:sp>
        <p:nvSpPr>
          <p:cNvPr id="99" name="TextBox 98"/>
          <p:cNvSpPr txBox="1"/>
          <p:nvPr/>
        </p:nvSpPr>
        <p:spPr>
          <a:xfrm>
            <a:off x="5175503" y="3703320"/>
            <a:ext cx="1920240" cy="731520"/>
          </a:xfrm>
          <a:prstGeom prst="rect">
            <a:avLst/>
          </a:prstGeom>
          <a:noFill/>
        </p:spPr>
        <p:txBody>
          <a:bodyPr wrap="square" anchor="t" lIns="45720" rIns="45720">
            <a:spAutoFit/>
          </a:bodyPr>
          <a:lstStyle/>
          <a:p>
            <a:pPr algn="ctr">
              <a:spcAft>
                <a:spcPts val="600"/>
              </a:spcAft>
            </a:pPr>
            <a:r>
              <a:rPr sz="1300" b="0" i="0">
                <a:solidFill>
                  <a:srgbClr val="555555"/>
                </a:solidFill>
                <a:latin typeface="Arial"/>
              </a:rPr>
              <a:t>2nd RSA signature · Issued</a:t>
            </a:r>
          </a:p>
        </p:txBody>
      </p:sp>
      <p:sp>
        <p:nvSpPr>
          <p:cNvPr id="100" name="Right Arrow 99"/>
          <p:cNvSpPr/>
          <p:nvPr/>
        </p:nvSpPr>
        <p:spPr>
          <a:xfrm>
            <a:off x="7141463" y="2606040"/>
            <a:ext cx="30175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7488936" y="2011680"/>
            <a:ext cx="192024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800" b="1" i="0">
                <a:solidFill>
                  <a:srgbClr val="A42530"/>
                </a:solidFill>
                <a:latin typeface="Arial"/>
              </a:rPr>
              <a:t>Admin</a:t>
            </a:r>
          </a:p>
          <a:p>
            <a:pPr algn="ctr">
              <a:spcAft>
                <a:spcPts val="600"/>
              </a:spcAft>
            </a:pPr>
            <a:r>
              <a:rPr sz="1400" b="0" i="0">
                <a:solidFill>
                  <a:srgbClr val="1F1F1F"/>
                </a:solidFill>
                <a:latin typeface="Arial"/>
              </a:rPr>
              <a:t>Clicks "Anchor now"</a:t>
            </a:r>
          </a:p>
        </p:txBody>
      </p:sp>
      <p:sp>
        <p:nvSpPr>
          <p:cNvPr id="102" name="TextBox 101"/>
          <p:cNvSpPr txBox="1"/>
          <p:nvPr/>
        </p:nvSpPr>
        <p:spPr>
          <a:xfrm>
            <a:off x="7488936" y="3703320"/>
            <a:ext cx="1920240" cy="731520"/>
          </a:xfrm>
          <a:prstGeom prst="rect">
            <a:avLst/>
          </a:prstGeom>
          <a:noFill/>
        </p:spPr>
        <p:txBody>
          <a:bodyPr wrap="square" anchor="t" lIns="45720" rIns="45720">
            <a:spAutoFit/>
          </a:bodyPr>
          <a:lstStyle/>
          <a:p>
            <a:pPr algn="ctr">
              <a:spcAft>
                <a:spcPts val="600"/>
              </a:spcAft>
            </a:pPr>
            <a:r>
              <a:rPr sz="1300" b="0" i="0">
                <a:solidFill>
                  <a:srgbClr val="555555"/>
                </a:solidFill>
                <a:latin typeface="Arial"/>
              </a:rPr>
              <a:t>Merkle root → Polygon</a:t>
            </a:r>
          </a:p>
        </p:txBody>
      </p:sp>
      <p:sp>
        <p:nvSpPr>
          <p:cNvPr id="103" name="Right Arrow 102"/>
          <p:cNvSpPr/>
          <p:nvPr/>
        </p:nvSpPr>
        <p:spPr>
          <a:xfrm>
            <a:off x="9454896" y="2606040"/>
            <a:ext cx="30175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9802367" y="2011680"/>
            <a:ext cx="192024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800" b="1" i="0">
                <a:solidFill>
                  <a:srgbClr val="A42530"/>
                </a:solidFill>
                <a:latin typeface="Arial"/>
              </a:rPr>
              <a:t>Anyone</a:t>
            </a:r>
          </a:p>
          <a:p>
            <a:pPr algn="ctr">
              <a:spcAft>
                <a:spcPts val="600"/>
              </a:spcAft>
            </a:pPr>
            <a:r>
              <a:rPr sz="1400" b="0" i="0">
                <a:solidFill>
                  <a:srgbClr val="1F1F1F"/>
                </a:solidFill>
                <a:latin typeface="Arial"/>
              </a:rPr>
              <a:t>Verifies the document</a:t>
            </a:r>
          </a:p>
        </p:txBody>
      </p:sp>
      <p:sp>
        <p:nvSpPr>
          <p:cNvPr id="105" name="TextBox 104"/>
          <p:cNvSpPr txBox="1"/>
          <p:nvPr/>
        </p:nvSpPr>
        <p:spPr>
          <a:xfrm>
            <a:off x="9802367" y="3703320"/>
            <a:ext cx="1920240" cy="731520"/>
          </a:xfrm>
          <a:prstGeom prst="rect">
            <a:avLst/>
          </a:prstGeom>
          <a:noFill/>
        </p:spPr>
        <p:txBody>
          <a:bodyPr wrap="square" anchor="t" lIns="45720" rIns="45720">
            <a:spAutoFit/>
          </a:bodyPr>
          <a:lstStyle/>
          <a:p>
            <a:pPr algn="ctr">
              <a:spcAft>
                <a:spcPts val="600"/>
              </a:spcAft>
            </a:pPr>
            <a:r>
              <a:rPr sz="1300" b="0" i="0">
                <a:solidFill>
                  <a:srgbClr val="555555"/>
                </a:solidFill>
                <a:latin typeface="Arial"/>
              </a:rPr>
              <a:t>6 checks · no login</a:t>
            </a:r>
          </a:p>
        </p:txBody>
      </p:sp>
      <p:sp>
        <p:nvSpPr>
          <p:cNvPr id="106" name="Rounded Rectangle 105"/>
          <p:cNvSpPr/>
          <p:nvPr/>
        </p:nvSpPr>
        <p:spPr>
          <a:xfrm>
            <a:off x="548640" y="4709160"/>
            <a:ext cx="11091672" cy="77724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500" b="1" i="0">
                <a:solidFill>
                  <a:srgbClr val="1F1F1F"/>
                </a:solidFill>
                <a:latin typeface="Arial"/>
              </a:rPr>
              <a:t>Two rules: </a:t>
            </a:r>
            <a:r>
              <a:rPr sz="1500" b="0" i="0">
                <a:solidFill>
                  <a:srgbClr val="1F1F1F"/>
                </a:solidFill>
                <a:latin typeface="Arial"/>
              </a:rPr>
              <a:t>sensitive data is always encrypted in the database, and only a 32-byte Merkle root ever goes on the blockchain.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1  ·  </a:t>
            </a:r>
            <a:r>
              <a:rPr sz="3000" b="1" i="0">
                <a:solidFill>
                  <a:srgbClr val="1F1F1F"/>
                </a:solidFill>
                <a:latin typeface="Arial"/>
              </a:rPr>
              <a:t>Proof works even if our server is gone</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Rounded Rectangle 91"/>
          <p:cNvSpPr/>
          <p:nvPr/>
        </p:nvSpPr>
        <p:spPr>
          <a:xfrm>
            <a:off x="548640" y="1828800"/>
            <a:ext cx="2606040" cy="96012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400" b="1" i="0">
                <a:solidFill>
                  <a:srgbClr val="1F1F1F"/>
                </a:solidFill>
                <a:latin typeface="Arial"/>
              </a:rPr>
              <a:t>Proof file (.jsonld)</a:t>
            </a:r>
          </a:p>
          <a:p>
            <a:pPr algn="ctr">
              <a:spcAft>
                <a:spcPts val="600"/>
              </a:spcAft>
            </a:pPr>
            <a:r>
              <a:rPr sz="1400" b="0" i="0">
                <a:solidFill>
                  <a:srgbClr val="1F1F1F"/>
                </a:solidFill>
                <a:latin typeface="Arial"/>
              </a:rPr>
              <a:t>The employee keeps it, like a PDF</a:t>
            </a:r>
          </a:p>
        </p:txBody>
      </p:sp>
      <p:sp>
        <p:nvSpPr>
          <p:cNvPr id="93" name="Rounded Rectangle 92"/>
          <p:cNvSpPr/>
          <p:nvPr/>
        </p:nvSpPr>
        <p:spPr>
          <a:xfrm>
            <a:off x="3337560" y="1828800"/>
            <a:ext cx="2606040" cy="96012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400" b="1" i="0">
                <a:solidFill>
                  <a:srgbClr val="1F1F1F"/>
                </a:solidFill>
                <a:latin typeface="Arial"/>
              </a:rPr>
              <a:t>Polygon blockchain</a:t>
            </a:r>
          </a:p>
          <a:p>
            <a:pPr algn="ctr">
              <a:spcAft>
                <a:spcPts val="600"/>
              </a:spcAft>
            </a:pPr>
            <a:r>
              <a:rPr sz="1400" b="0" i="0">
                <a:solidFill>
                  <a:srgbClr val="1F1F1F"/>
                </a:solidFill>
                <a:latin typeface="Arial"/>
              </a:rPr>
              <a:t>Public, anyone can read it</a:t>
            </a:r>
          </a:p>
        </p:txBody>
      </p:sp>
      <p:sp>
        <p:nvSpPr>
          <p:cNvPr id="94" name="Down Arrow 93"/>
          <p:cNvSpPr/>
          <p:nvPr/>
        </p:nvSpPr>
        <p:spPr>
          <a:xfrm>
            <a:off x="1691640" y="2880360"/>
            <a:ext cx="320040" cy="365760"/>
          </a:xfrm>
          <a:prstGeom prst="down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Down Arrow 94"/>
          <p:cNvSpPr/>
          <p:nvPr/>
        </p:nvSpPr>
        <p:spPr>
          <a:xfrm>
            <a:off x="4480560" y="2880360"/>
            <a:ext cx="320040" cy="365760"/>
          </a:xfrm>
          <a:prstGeom prst="down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548640" y="3337560"/>
            <a:ext cx="5394960" cy="86868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400" b="1" i="0">
                <a:solidFill>
                  <a:srgbClr val="1F1F1F"/>
                </a:solidFill>
                <a:latin typeface="Arial"/>
              </a:rPr>
              <a:t>Verifier's browser or laptop  →  VALID</a:t>
            </a:r>
          </a:p>
          <a:p>
            <a:pPr algn="ctr">
              <a:spcAft>
                <a:spcPts val="600"/>
              </a:spcAft>
            </a:pPr>
            <a:r>
              <a:rPr sz="1400" b="0" i="0">
                <a:solidFill>
                  <a:srgbClr val="1F1F1F"/>
                </a:solidFill>
                <a:latin typeface="Arial"/>
              </a:rPr>
              <a:t>Recomputes hash, both signatures, Merkle proof</a:t>
            </a:r>
          </a:p>
        </p:txBody>
      </p:sp>
      <p:sp>
        <p:nvSpPr>
          <p:cNvPr id="97" name="Rounded Rectangle 96"/>
          <p:cNvSpPr/>
          <p:nvPr/>
        </p:nvSpPr>
        <p:spPr>
          <a:xfrm>
            <a:off x="548640" y="4389120"/>
            <a:ext cx="5394960" cy="548640"/>
          </a:xfrm>
          <a:prstGeom prst="roundRect">
            <a:avLst>
              <a:gd name="adj" fmla="val 8000"/>
            </a:avLst>
          </a:prstGeom>
          <a:noFill/>
          <a:ln w="1905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400" b="0" i="0">
                <a:solidFill>
                  <a:srgbClr val="555555"/>
                </a:solidFill>
                <a:latin typeface="Arial"/>
              </a:rPr>
              <a:t>CareerVault server + database:  </a:t>
            </a:r>
            <a:r>
              <a:rPr sz="1400" b="1" i="0">
                <a:solidFill>
                  <a:srgbClr val="A42530"/>
                </a:solidFill>
                <a:latin typeface="Arial"/>
              </a:rPr>
              <a:t>NOT needed</a:t>
            </a:r>
          </a:p>
        </p:txBody>
      </p:sp>
      <p:sp>
        <p:nvSpPr>
          <p:cNvPr id="98" name="TextBox 97"/>
          <p:cNvSpPr txBox="1"/>
          <p:nvPr/>
        </p:nvSpPr>
        <p:spPr>
          <a:xfrm>
            <a:off x="548640" y="5074920"/>
            <a:ext cx="5394960" cy="685800"/>
          </a:xfrm>
          <a:prstGeom prst="rect">
            <a:avLst/>
          </a:prstGeom>
          <a:noFill/>
        </p:spPr>
        <p:txBody>
          <a:bodyPr wrap="square" anchor="t" lIns="45720" rIns="45720">
            <a:spAutoFit/>
          </a:bodyPr>
          <a:lstStyle/>
          <a:p>
            <a:pPr algn="l">
              <a:spcAft>
                <a:spcPts val="600"/>
              </a:spcAft>
            </a:pPr>
            <a:r>
              <a:rPr sz="1400" b="0" i="0">
                <a:solidFill>
                  <a:srgbClr val="1F1F1F"/>
                </a:solidFill>
                <a:latin typeface="Arial"/>
              </a:rPr>
              <a:t>eLocker: trust their server.  </a:t>
            </a:r>
            <a:r>
              <a:rPr sz="1400" b="1" i="0">
                <a:solidFill>
                  <a:srgbClr val="1F1F1F"/>
                </a:solidFill>
                <a:latin typeface="Arial"/>
              </a:rPr>
              <a:t>CareerVault: trust maths + a public blockchain.</a:t>
            </a:r>
          </a:p>
        </p:txBody>
      </p:sp>
      <p:pic>
        <p:nvPicPr>
          <p:cNvPr id="99" name="Picture 98" descr="p1-verified.png"/>
          <p:cNvPicPr>
            <a:picLocks noChangeAspect="1"/>
          </p:cNvPicPr>
          <p:nvPr/>
        </p:nvPicPr>
        <p:blipFill>
          <a:blip r:embed="rId3"/>
          <a:stretch>
            <a:fillRect/>
          </a:stretch>
        </p:blipFill>
        <p:spPr>
          <a:xfrm>
            <a:off x="6263640" y="1933736"/>
            <a:ext cx="5394960" cy="3676326"/>
          </a:xfrm>
          <a:prstGeom prst="rect">
            <a:avLst/>
          </a:prstGeom>
          <a:ln w="12700">
            <a:solidFill>
              <a:srgbClr val="BFBFBF"/>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1  ·  </a:t>
            </a:r>
            <a:r>
              <a:rPr sz="3000" b="1" i="0">
                <a:solidFill>
                  <a:srgbClr val="1F1F1F"/>
                </a:solidFill>
                <a:latin typeface="Arial"/>
              </a:rPr>
              <a:t>Change one word, and it fails</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TextBox 91"/>
          <p:cNvSpPr txBox="1"/>
          <p:nvPr/>
        </p:nvSpPr>
        <p:spPr>
          <a:xfrm>
            <a:off x="548640" y="1783080"/>
            <a:ext cx="5120640" cy="411480"/>
          </a:xfrm>
          <a:prstGeom prst="rect">
            <a:avLst/>
          </a:prstGeom>
          <a:noFill/>
        </p:spPr>
        <p:txBody>
          <a:bodyPr wrap="square" anchor="t" lIns="45720" rIns="45720">
            <a:spAutoFit/>
          </a:bodyPr>
          <a:lstStyle/>
          <a:p>
            <a:pPr algn="l">
              <a:spcAft>
                <a:spcPts val="600"/>
              </a:spcAft>
            </a:pPr>
            <a:r>
              <a:rPr sz="1600" b="1" i="0">
                <a:solidFill>
                  <a:srgbClr val="A42530"/>
                </a:solidFill>
                <a:latin typeface="Arial"/>
              </a:rPr>
              <a:t>Step 1: </a:t>
            </a:r>
            <a:r>
              <a:rPr sz="1600" b="0" i="0">
                <a:solidFill>
                  <a:srgbClr val="1F1F1F"/>
                </a:solidFill>
                <a:latin typeface="Arial"/>
              </a:rPr>
              <a:t>change "Intern" to "CEO" in the file</a:t>
            </a:r>
          </a:p>
        </p:txBody>
      </p:sp>
      <p:pic>
        <p:nvPicPr>
          <p:cNvPr id="93" name="Picture 92" descr="15-tamper-edit.png"/>
          <p:cNvPicPr>
            <a:picLocks noChangeAspect="1"/>
          </p:cNvPicPr>
          <p:nvPr/>
        </p:nvPicPr>
        <p:blipFill>
          <a:blip r:embed="rId3"/>
          <a:stretch>
            <a:fillRect/>
          </a:stretch>
        </p:blipFill>
        <p:spPr>
          <a:xfrm>
            <a:off x="548640" y="2243730"/>
            <a:ext cx="5120640" cy="2324818"/>
          </a:xfrm>
          <a:prstGeom prst="rect">
            <a:avLst/>
          </a:prstGeom>
          <a:ln w="12700">
            <a:solidFill>
              <a:srgbClr val="BFBFBF"/>
            </a:solidFill>
          </a:ln>
        </p:spPr>
      </p:pic>
      <p:sp>
        <p:nvSpPr>
          <p:cNvPr id="94" name="Rounded Rectangle 93"/>
          <p:cNvSpPr/>
          <p:nvPr/>
        </p:nvSpPr>
        <p:spPr>
          <a:xfrm>
            <a:off x="548640" y="4754880"/>
            <a:ext cx="5120640" cy="86868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500" b="0" i="0">
                <a:solidFill>
                  <a:srgbClr val="1F1F1F"/>
                </a:solidFill>
                <a:latin typeface="Arial"/>
              </a:rPr>
              <a:t>Any edit changes the SHA-256 hash, </a:t>
            </a:r>
            <a:r>
              <a:rPr sz="1500" b="1" i="0">
                <a:solidFill>
                  <a:srgbClr val="1F1F1F"/>
                </a:solidFill>
                <a:latin typeface="Arial"/>
              </a:rPr>
              <a:t>so the fake is caught at once.</a:t>
            </a:r>
          </a:p>
        </p:txBody>
      </p:sp>
      <p:sp>
        <p:nvSpPr>
          <p:cNvPr id="95" name="Right Arrow 94"/>
          <p:cNvSpPr/>
          <p:nvPr/>
        </p:nvSpPr>
        <p:spPr>
          <a:xfrm>
            <a:off x="5806440" y="3291840"/>
            <a:ext cx="365760" cy="41148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309360" y="1783080"/>
            <a:ext cx="5349240" cy="411480"/>
          </a:xfrm>
          <a:prstGeom prst="rect">
            <a:avLst/>
          </a:prstGeom>
          <a:noFill/>
        </p:spPr>
        <p:txBody>
          <a:bodyPr wrap="square" anchor="t" lIns="45720" rIns="45720">
            <a:spAutoFit/>
          </a:bodyPr>
          <a:lstStyle/>
          <a:p>
            <a:pPr algn="l">
              <a:spcAft>
                <a:spcPts val="600"/>
              </a:spcAft>
            </a:pPr>
            <a:r>
              <a:rPr sz="1600" b="1" i="0">
                <a:solidFill>
                  <a:srgbClr val="A42530"/>
                </a:solidFill>
                <a:latin typeface="Arial"/>
              </a:rPr>
              <a:t>Step 2: </a:t>
            </a:r>
            <a:r>
              <a:rPr sz="1600" b="0" i="0">
                <a:solidFill>
                  <a:srgbClr val="1F1F1F"/>
                </a:solidFill>
                <a:latin typeface="Arial"/>
              </a:rPr>
              <a:t>re-run: Integrity FAILED</a:t>
            </a:r>
          </a:p>
        </p:txBody>
      </p:sp>
      <p:pic>
        <p:nvPicPr>
          <p:cNvPr id="97" name="Picture 96" descr="p1-tampered.png"/>
          <p:cNvPicPr>
            <a:picLocks noChangeAspect="1"/>
          </p:cNvPicPr>
          <p:nvPr/>
        </p:nvPicPr>
        <p:blipFill>
          <a:blip r:embed="rId4"/>
          <a:stretch>
            <a:fillRect/>
          </a:stretch>
        </p:blipFill>
        <p:spPr>
          <a:xfrm>
            <a:off x="6382271" y="2240280"/>
            <a:ext cx="5203417" cy="2331720"/>
          </a:xfrm>
          <a:prstGeom prst="rect">
            <a:avLst/>
          </a:prstGeom>
          <a:ln w="12700">
            <a:solidFill>
              <a:srgbClr val="BFBFBF"/>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2  ·  </a:t>
            </a:r>
            <a:r>
              <a:rPr sz="3000" b="1" i="0">
                <a:solidFill>
                  <a:srgbClr val="1F1F1F"/>
                </a:solidFill>
                <a:latin typeface="Arial"/>
              </a:rPr>
              <a:t>Database now stores only locked data</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Rounded Rectangle 91"/>
          <p:cNvSpPr/>
          <p:nvPr/>
        </p:nvSpPr>
        <p:spPr>
          <a:xfrm>
            <a:off x="548640" y="1783080"/>
            <a:ext cx="5440680" cy="109728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600"/>
              </a:spcAft>
            </a:pPr>
            <a:r>
              <a:rPr sz="1300" b="1" i="0">
                <a:solidFill>
                  <a:srgbClr val="A42530"/>
                </a:solidFill>
                <a:latin typeface="Arial"/>
              </a:rPr>
              <a:t>BEFORE:  </a:t>
            </a:r>
            <a:r>
              <a:rPr sz="1300" b="1" i="0">
                <a:solidFill>
                  <a:srgbClr val="A42530"/>
                </a:solidFill>
                <a:latin typeface="Arial"/>
              </a:rPr>
              <a:t>anyone with DB access could read it</a:t>
            </a:r>
          </a:p>
          <a:p>
            <a:pPr algn="l">
              <a:spcAft>
                <a:spcPts val="600"/>
              </a:spcAft>
            </a:pPr>
            <a:r>
              <a:rPr sz="1300" b="0" i="0">
                <a:solidFill>
                  <a:srgbClr val="1F1F1F"/>
                </a:solidFill>
                <a:latin typeface="Courier New"/>
              </a:rPr>
              <a:t>{"designation": "Intern", "basicPaise": 3000000, ...}</a:t>
            </a:r>
          </a:p>
        </p:txBody>
      </p:sp>
      <p:sp>
        <p:nvSpPr>
          <p:cNvPr id="93" name="Rounded Rectangle 92"/>
          <p:cNvSpPr/>
          <p:nvPr/>
        </p:nvSpPr>
        <p:spPr>
          <a:xfrm>
            <a:off x="6199632" y="1783080"/>
            <a:ext cx="5440680" cy="109728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600"/>
              </a:spcAft>
            </a:pPr>
            <a:r>
              <a:rPr sz="1300" b="1" i="0">
                <a:solidFill>
                  <a:srgbClr val="1E7B34"/>
                </a:solidFill>
                <a:latin typeface="Arial"/>
              </a:rPr>
              <a:t>NOW:  </a:t>
            </a:r>
            <a:r>
              <a:rPr sz="1300" b="1" i="0">
                <a:solidFill>
                  <a:srgbClr val="1E7B34"/>
                </a:solidFill>
                <a:latin typeface="Arial"/>
              </a:rPr>
              <a:t>unreadable without our secret key</a:t>
            </a:r>
          </a:p>
          <a:p>
            <a:pPr algn="l">
              <a:spcAft>
                <a:spcPts val="600"/>
              </a:spcAft>
            </a:pPr>
            <a:r>
              <a:rPr sz="1300" b="0" i="0">
                <a:solidFill>
                  <a:srgbClr val="1F1F1F"/>
                </a:solidFill>
                <a:latin typeface="Courier New"/>
              </a:rPr>
              <a:t>"cvenc:v1:f22de41b6236d112:9dTQq-1p..."</a:t>
            </a:r>
          </a:p>
        </p:txBody>
      </p:sp>
      <p:sp>
        <p:nvSpPr>
          <p:cNvPr id="94" name="TextBox 93"/>
          <p:cNvSpPr txBox="1"/>
          <p:nvPr/>
        </p:nvSpPr>
        <p:spPr>
          <a:xfrm>
            <a:off x="548640" y="3017520"/>
            <a:ext cx="11091672" cy="365760"/>
          </a:xfrm>
          <a:prstGeom prst="rect">
            <a:avLst/>
          </a:prstGeom>
          <a:noFill/>
        </p:spPr>
        <p:txBody>
          <a:bodyPr wrap="square" anchor="t" lIns="45720" rIns="45720">
            <a:spAutoFit/>
          </a:bodyPr>
          <a:lstStyle/>
          <a:p>
            <a:pPr algn="l">
              <a:spcAft>
                <a:spcPts val="600"/>
              </a:spcAft>
            </a:pPr>
            <a:r>
              <a:rPr sz="1400" b="1" i="0">
                <a:solidFill>
                  <a:srgbClr val="1F1F1F"/>
                </a:solidFill>
                <a:latin typeface="Arial"/>
              </a:rPr>
              <a:t>Real screenshot: </a:t>
            </a:r>
            <a:r>
              <a:rPr sz="1400" b="0" i="0">
                <a:solidFill>
                  <a:srgbClr val="1F1F1F"/>
                </a:solidFill>
                <a:latin typeface="Arial"/>
              </a:rPr>
              <a:t>Supabase → CareerVault (PRODUCTION) → document_versions. Every row is locked.</a:t>
            </a:r>
          </a:p>
        </p:txBody>
      </p:sp>
      <p:pic>
        <p:nvPicPr>
          <p:cNvPr id="95" name="Picture 94" descr="p2-supabase.png"/>
          <p:cNvPicPr>
            <a:picLocks noChangeAspect="1"/>
          </p:cNvPicPr>
          <p:nvPr/>
        </p:nvPicPr>
        <p:blipFill>
          <a:blip r:embed="rId3"/>
          <a:stretch>
            <a:fillRect/>
          </a:stretch>
        </p:blipFill>
        <p:spPr>
          <a:xfrm>
            <a:off x="1267947" y="3429000"/>
            <a:ext cx="9653056" cy="2331720"/>
          </a:xfrm>
          <a:prstGeom prst="rect">
            <a:avLst/>
          </a:prstGeom>
          <a:ln w="12700">
            <a:solidFill>
              <a:srgbClr val="BFBFBF"/>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2  ·  </a:t>
            </a:r>
            <a:r>
              <a:rPr sz="3000" b="1" i="0">
                <a:solidFill>
                  <a:srgbClr val="1F1F1F"/>
                </a:solidFill>
                <a:latin typeface="Arial"/>
              </a:rPr>
              <a:t>How the lock works</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Oval 91"/>
          <p:cNvSpPr/>
          <p:nvPr/>
        </p:nvSpPr>
        <p:spPr>
          <a:xfrm>
            <a:off x="1508760" y="178308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1</a:t>
            </a:r>
          </a:p>
        </p:txBody>
      </p:sp>
      <p:sp>
        <p:nvSpPr>
          <p:cNvPr id="93" name="Rounded Rectangle 92"/>
          <p:cNvSpPr/>
          <p:nvPr/>
        </p:nvSpPr>
        <p:spPr>
          <a:xfrm>
            <a:off x="548640" y="2468880"/>
            <a:ext cx="24688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Master key</a:t>
            </a:r>
          </a:p>
          <a:p>
            <a:pPr algn="ctr">
              <a:spcAft>
                <a:spcPts val="600"/>
              </a:spcAft>
            </a:pPr>
            <a:r>
              <a:rPr sz="1400" b="0" i="0">
                <a:solidFill>
                  <a:srgbClr val="1F1F1F"/>
                </a:solidFill>
                <a:latin typeface="Arial"/>
              </a:rPr>
              <a:t>Secret on the server only (KMS_MASTER_KEY). Never in the DB.</a:t>
            </a:r>
          </a:p>
        </p:txBody>
      </p:sp>
      <p:sp>
        <p:nvSpPr>
          <p:cNvPr id="94" name="Right Arrow 93"/>
          <p:cNvSpPr/>
          <p:nvPr/>
        </p:nvSpPr>
        <p:spPr>
          <a:xfrm>
            <a:off x="3072384" y="3063240"/>
            <a:ext cx="292608"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370832" y="178308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2</a:t>
            </a:r>
          </a:p>
        </p:txBody>
      </p:sp>
      <p:sp>
        <p:nvSpPr>
          <p:cNvPr id="96" name="Rounded Rectangle 95"/>
          <p:cNvSpPr/>
          <p:nvPr/>
        </p:nvSpPr>
        <p:spPr>
          <a:xfrm>
            <a:off x="3410712" y="2468880"/>
            <a:ext cx="24688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New key per row</a:t>
            </a:r>
          </a:p>
          <a:p>
            <a:pPr algn="ctr">
              <a:spcAft>
                <a:spcPts val="600"/>
              </a:spcAft>
            </a:pPr>
            <a:r>
              <a:rPr sz="1400" b="0" i="0">
                <a:solidFill>
                  <a:srgbClr val="1F1F1F"/>
                </a:solidFill>
                <a:latin typeface="Arial"/>
              </a:rPr>
              <a:t>A fresh random key for every document</a:t>
            </a:r>
          </a:p>
        </p:txBody>
      </p:sp>
      <p:sp>
        <p:nvSpPr>
          <p:cNvPr id="97" name="Right Arrow 96"/>
          <p:cNvSpPr/>
          <p:nvPr/>
        </p:nvSpPr>
        <p:spPr>
          <a:xfrm>
            <a:off x="5934456" y="3063240"/>
            <a:ext cx="292608"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232903" y="178308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3</a:t>
            </a:r>
          </a:p>
        </p:txBody>
      </p:sp>
      <p:sp>
        <p:nvSpPr>
          <p:cNvPr id="99" name="Rounded Rectangle 98"/>
          <p:cNvSpPr/>
          <p:nvPr/>
        </p:nvSpPr>
        <p:spPr>
          <a:xfrm>
            <a:off x="6272783" y="2468880"/>
            <a:ext cx="24688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AES-256-GCM</a:t>
            </a:r>
          </a:p>
          <a:p>
            <a:pPr algn="ctr">
              <a:spcAft>
                <a:spcPts val="600"/>
              </a:spcAft>
            </a:pPr>
            <a:r>
              <a:rPr sz="1400" b="0" i="0">
                <a:solidFill>
                  <a:srgbClr val="1F1F1F"/>
                </a:solidFill>
                <a:latin typeface="Arial"/>
              </a:rPr>
              <a:t>Locks each field; any change breaks the lock</a:t>
            </a:r>
          </a:p>
        </p:txBody>
      </p:sp>
      <p:sp>
        <p:nvSpPr>
          <p:cNvPr id="100" name="Right Arrow 99"/>
          <p:cNvSpPr/>
          <p:nvPr/>
        </p:nvSpPr>
        <p:spPr>
          <a:xfrm>
            <a:off x="8796528" y="3063240"/>
            <a:ext cx="292608"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094976" y="1783080"/>
            <a:ext cx="548640" cy="54864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Arial"/>
              </a:rPr>
              <a:t>4</a:t>
            </a:r>
          </a:p>
        </p:txBody>
      </p:sp>
      <p:sp>
        <p:nvSpPr>
          <p:cNvPr id="102" name="Rounded Rectangle 101"/>
          <p:cNvSpPr/>
          <p:nvPr/>
        </p:nvSpPr>
        <p:spPr>
          <a:xfrm>
            <a:off x="9134856" y="2468880"/>
            <a:ext cx="24688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Supabase</a:t>
            </a:r>
          </a:p>
          <a:p>
            <a:pPr algn="ctr">
              <a:spcAft>
                <a:spcPts val="600"/>
              </a:spcAft>
            </a:pPr>
            <a:r>
              <a:rPr sz="1400" b="0" i="0">
                <a:solidFill>
                  <a:srgbClr val="1F1F1F"/>
                </a:solidFill>
                <a:latin typeface="Arial"/>
              </a:rPr>
              <a:t>Stores only "cvenc:v1:..." text</a:t>
            </a:r>
          </a:p>
        </p:txBody>
      </p:sp>
      <p:sp>
        <p:nvSpPr>
          <p:cNvPr id="103" name="Rounded Rectangle 102"/>
          <p:cNvSpPr/>
          <p:nvPr/>
        </p:nvSpPr>
        <p:spPr>
          <a:xfrm>
            <a:off x="548640" y="4343400"/>
            <a:ext cx="5440680" cy="128016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l">
              <a:spcAft>
                <a:spcPts val="600"/>
              </a:spcAft>
            </a:pPr>
            <a:r>
              <a:rPr sz="1400" b="1" i="0">
                <a:solidFill>
                  <a:srgbClr val="1F1F1F"/>
                </a:solidFill>
                <a:latin typeface="Arial"/>
              </a:rPr>
              <a:t>Locked columns</a:t>
            </a:r>
          </a:p>
          <a:p>
            <a:pPr algn="l">
              <a:spcAft>
                <a:spcPts val="600"/>
              </a:spcAft>
            </a:pPr>
            <a:r>
              <a:rPr sz="1400" b="0" i="0">
                <a:solidFill>
                  <a:srgbClr val="1F1F1F"/>
                </a:solidFill>
                <a:latin typeface="Arial"/>
              </a:rPr>
              <a:t>content_json, salt, both signatures, revocation reason, change_summary, issued PDFs. Unlocked automatically when the app reads.</a:t>
            </a:r>
          </a:p>
        </p:txBody>
      </p:sp>
      <p:sp>
        <p:nvSpPr>
          <p:cNvPr id="104" name="Rounded Rectangle 103"/>
          <p:cNvSpPr/>
          <p:nvPr/>
        </p:nvSpPr>
        <p:spPr>
          <a:xfrm>
            <a:off x="6199632" y="4343400"/>
            <a:ext cx="5440680" cy="12801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l">
              <a:spcAft>
                <a:spcPts val="600"/>
              </a:spcAft>
            </a:pPr>
            <a:r>
              <a:rPr sz="1400" b="1" i="0">
                <a:solidFill>
                  <a:srgbClr val="1F1F1F"/>
                </a:solidFill>
                <a:latin typeface="Arial"/>
              </a:rPr>
              <a:t>Extra layer (Supabase)</a:t>
            </a:r>
          </a:p>
          <a:p>
            <a:pPr algn="l">
              <a:spcAft>
                <a:spcPts val="600"/>
              </a:spcAft>
            </a:pPr>
            <a:r>
              <a:rPr sz="1400" b="0" i="0">
                <a:solidFill>
                  <a:srgbClr val="1F1F1F"/>
                </a:solidFill>
                <a:latin typeface="Arial"/>
              </a:rPr>
              <a:t>The whole database disk is also encrypted (AES-256), and connections use TLS.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3  ·  </a:t>
            </a:r>
            <a:r>
              <a:rPr sz="3000" b="1" i="0">
                <a:solidFill>
                  <a:srgbClr val="1F1F1F"/>
                </a:solidFill>
                <a:latin typeface="Arial"/>
              </a:rPr>
              <a:t>Real blockchain: Polygon Amoy, no simulation</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Oval 91"/>
          <p:cNvSpPr/>
          <p:nvPr/>
        </p:nvSpPr>
        <p:spPr>
          <a:xfrm>
            <a:off x="548640" y="1828800"/>
            <a:ext cx="457200" cy="45720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Arial"/>
              </a:rPr>
              <a:t>1</a:t>
            </a:r>
          </a:p>
        </p:txBody>
      </p:sp>
      <p:sp>
        <p:nvSpPr>
          <p:cNvPr id="93" name="TextBox 92"/>
          <p:cNvSpPr txBox="1"/>
          <p:nvPr/>
        </p:nvSpPr>
        <p:spPr>
          <a:xfrm>
            <a:off x="1143000" y="1828800"/>
            <a:ext cx="4480560" cy="457200"/>
          </a:xfrm>
          <a:prstGeom prst="rect">
            <a:avLst/>
          </a:prstGeom>
          <a:noFill/>
        </p:spPr>
        <p:txBody>
          <a:bodyPr wrap="square" anchor="ctr" lIns="45720" rIns="45720">
            <a:spAutoFit/>
          </a:bodyPr>
          <a:lstStyle/>
          <a:p>
            <a:pPr algn="l">
              <a:spcAft>
                <a:spcPts val="600"/>
              </a:spcAft>
            </a:pPr>
            <a:r>
              <a:rPr sz="1500" b="0" i="0">
                <a:solidFill>
                  <a:srgbClr val="1F1F1F"/>
                </a:solidFill>
                <a:latin typeface="Arial"/>
              </a:rPr>
              <a:t>Collect all newly issued documents</a:t>
            </a:r>
          </a:p>
        </p:txBody>
      </p:sp>
      <p:sp>
        <p:nvSpPr>
          <p:cNvPr id="94" name="Oval 93"/>
          <p:cNvSpPr/>
          <p:nvPr/>
        </p:nvSpPr>
        <p:spPr>
          <a:xfrm>
            <a:off x="548640" y="2487168"/>
            <a:ext cx="457200" cy="45720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Arial"/>
              </a:rPr>
              <a:t>2</a:t>
            </a:r>
          </a:p>
        </p:txBody>
      </p:sp>
      <p:sp>
        <p:nvSpPr>
          <p:cNvPr id="95" name="TextBox 94"/>
          <p:cNvSpPr txBox="1"/>
          <p:nvPr/>
        </p:nvSpPr>
        <p:spPr>
          <a:xfrm>
            <a:off x="1143000" y="2487168"/>
            <a:ext cx="4480560" cy="457200"/>
          </a:xfrm>
          <a:prstGeom prst="rect">
            <a:avLst/>
          </a:prstGeom>
          <a:noFill/>
        </p:spPr>
        <p:txBody>
          <a:bodyPr wrap="square" anchor="ctr" lIns="45720" rIns="45720">
            <a:spAutoFit/>
          </a:bodyPr>
          <a:lstStyle/>
          <a:p>
            <a:pPr algn="l">
              <a:spcAft>
                <a:spcPts val="600"/>
              </a:spcAft>
            </a:pPr>
            <a:r>
              <a:rPr sz="1500" b="0" i="0">
                <a:solidFill>
                  <a:srgbClr val="1F1F1F"/>
                </a:solidFill>
                <a:latin typeface="Arial"/>
              </a:rPr>
              <a:t>Build a Merkle tree → 1 root (32 bytes)</a:t>
            </a:r>
          </a:p>
        </p:txBody>
      </p:sp>
      <p:sp>
        <p:nvSpPr>
          <p:cNvPr id="96" name="Oval 95"/>
          <p:cNvSpPr/>
          <p:nvPr/>
        </p:nvSpPr>
        <p:spPr>
          <a:xfrm>
            <a:off x="548640" y="3145536"/>
            <a:ext cx="457200" cy="45720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Arial"/>
              </a:rPr>
              <a:t>3</a:t>
            </a:r>
          </a:p>
        </p:txBody>
      </p:sp>
      <p:sp>
        <p:nvSpPr>
          <p:cNvPr id="97" name="TextBox 96"/>
          <p:cNvSpPr txBox="1"/>
          <p:nvPr/>
        </p:nvSpPr>
        <p:spPr>
          <a:xfrm>
            <a:off x="1143000" y="3145536"/>
            <a:ext cx="4480560" cy="457200"/>
          </a:xfrm>
          <a:prstGeom prst="rect">
            <a:avLst/>
          </a:prstGeom>
          <a:noFill/>
        </p:spPr>
        <p:txBody>
          <a:bodyPr wrap="square" anchor="ctr" lIns="45720" rIns="45720">
            <a:spAutoFit/>
          </a:bodyPr>
          <a:lstStyle/>
          <a:p>
            <a:pPr algn="l">
              <a:spcAft>
                <a:spcPts val="600"/>
              </a:spcAft>
            </a:pPr>
            <a:r>
              <a:rPr sz="1500" b="0" i="0">
                <a:solidFill>
                  <a:srgbClr val="1F1F1F"/>
                </a:solidFill>
                <a:latin typeface="Arial"/>
              </a:rPr>
              <a:t>Our wallet calls anchorRoot(root) on our contract</a:t>
            </a:r>
          </a:p>
        </p:txBody>
      </p:sp>
      <p:sp>
        <p:nvSpPr>
          <p:cNvPr id="98" name="Oval 97"/>
          <p:cNvSpPr/>
          <p:nvPr/>
        </p:nvSpPr>
        <p:spPr>
          <a:xfrm>
            <a:off x="548640" y="3803904"/>
            <a:ext cx="457200" cy="45720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Arial"/>
              </a:rPr>
              <a:t>4</a:t>
            </a:r>
          </a:p>
        </p:txBody>
      </p:sp>
      <p:sp>
        <p:nvSpPr>
          <p:cNvPr id="99" name="TextBox 98"/>
          <p:cNvSpPr txBox="1"/>
          <p:nvPr/>
        </p:nvSpPr>
        <p:spPr>
          <a:xfrm>
            <a:off x="1143000" y="3803904"/>
            <a:ext cx="4480560" cy="457200"/>
          </a:xfrm>
          <a:prstGeom prst="rect">
            <a:avLst/>
          </a:prstGeom>
          <a:noFill/>
        </p:spPr>
        <p:txBody>
          <a:bodyPr wrap="square" anchor="ctr" lIns="45720" rIns="45720">
            <a:spAutoFit/>
          </a:bodyPr>
          <a:lstStyle/>
          <a:p>
            <a:pPr algn="l">
              <a:spcAft>
                <a:spcPts val="600"/>
              </a:spcAft>
            </a:pPr>
            <a:r>
              <a:rPr sz="1500" b="0" i="0">
                <a:solidFill>
                  <a:srgbClr val="1F1F1F"/>
                </a:solidFill>
                <a:latin typeface="Arial"/>
              </a:rPr>
              <a:t>Polygon confirms the transaction</a:t>
            </a:r>
          </a:p>
        </p:txBody>
      </p:sp>
      <p:sp>
        <p:nvSpPr>
          <p:cNvPr id="100" name="Oval 99"/>
          <p:cNvSpPr/>
          <p:nvPr/>
        </p:nvSpPr>
        <p:spPr>
          <a:xfrm>
            <a:off x="548640" y="4462272"/>
            <a:ext cx="457200" cy="45720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Arial"/>
              </a:rPr>
              <a:t>5</a:t>
            </a:r>
          </a:p>
        </p:txBody>
      </p:sp>
      <p:sp>
        <p:nvSpPr>
          <p:cNvPr id="101" name="TextBox 100"/>
          <p:cNvSpPr txBox="1"/>
          <p:nvPr/>
        </p:nvSpPr>
        <p:spPr>
          <a:xfrm>
            <a:off x="1143000" y="4462272"/>
            <a:ext cx="4480560" cy="457200"/>
          </a:xfrm>
          <a:prstGeom prst="rect">
            <a:avLst/>
          </a:prstGeom>
          <a:noFill/>
        </p:spPr>
        <p:txBody>
          <a:bodyPr wrap="square" anchor="ctr" lIns="45720" rIns="45720">
            <a:spAutoFit/>
          </a:bodyPr>
          <a:lstStyle/>
          <a:p>
            <a:pPr algn="l">
              <a:spcAft>
                <a:spcPts val="600"/>
              </a:spcAft>
            </a:pPr>
            <a:r>
              <a:rPr sz="1500" b="0" i="0">
                <a:solidFill>
                  <a:srgbClr val="1F1F1F"/>
                </a:solidFill>
                <a:latin typeface="Arial"/>
              </a:rPr>
              <a:t>Transaction hash saved in our database</a:t>
            </a:r>
          </a:p>
        </p:txBody>
      </p:sp>
      <p:sp>
        <p:nvSpPr>
          <p:cNvPr id="102" name="Rounded Rectangle 101"/>
          <p:cNvSpPr/>
          <p:nvPr/>
        </p:nvSpPr>
        <p:spPr>
          <a:xfrm>
            <a:off x="548640" y="5166360"/>
            <a:ext cx="5120640" cy="59436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300" b="1" i="0">
                <a:solidFill>
                  <a:srgbClr val="1F1F1F"/>
                </a:solidFill>
                <a:latin typeface="Arial"/>
              </a:rPr>
              <a:t>Contract </a:t>
            </a:r>
            <a:r>
              <a:rPr sz="1300" b="0" i="0">
                <a:solidFill>
                  <a:srgbClr val="1F1F1F"/>
                </a:solidFill>
                <a:latin typeface="Courier New"/>
              </a:rPr>
              <a:t>0x483f9FF4…4b8Cb12a</a:t>
            </a:r>
            <a:r>
              <a:rPr sz="1300" b="0" i="0">
                <a:solidFill>
                  <a:srgbClr val="1F1F1F"/>
                </a:solidFill>
                <a:latin typeface="Arial"/>
              </a:rPr>
              <a:t> · chain 80002</a:t>
            </a:r>
          </a:p>
        </p:txBody>
      </p:sp>
      <p:pic>
        <p:nvPicPr>
          <p:cNvPr id="103" name="Picture 102" descr="p3-tx.png"/>
          <p:cNvPicPr>
            <a:picLocks noChangeAspect="1"/>
          </p:cNvPicPr>
          <p:nvPr/>
        </p:nvPicPr>
        <p:blipFill>
          <a:blip r:embed="rId3"/>
          <a:stretch>
            <a:fillRect/>
          </a:stretch>
        </p:blipFill>
        <p:spPr>
          <a:xfrm>
            <a:off x="5943600" y="2459334"/>
            <a:ext cx="5715000" cy="2625131"/>
          </a:xfrm>
          <a:prstGeom prst="rect">
            <a:avLst/>
          </a:prstGeom>
          <a:ln w="12700">
            <a:solidFill>
              <a:srgbClr val="BFBFBF"/>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3  ·  </a:t>
            </a:r>
            <a:r>
              <a:rPr sz="3000" b="1" i="0">
                <a:solidFill>
                  <a:srgbClr val="1F1F1F"/>
                </a:solidFill>
                <a:latin typeface="Arial"/>
              </a:rPr>
              <a:t>Anyone can check it on PolygonScan</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TextBox 91"/>
          <p:cNvSpPr txBox="1"/>
          <p:nvPr/>
        </p:nvSpPr>
        <p:spPr>
          <a:xfrm>
            <a:off x="548640" y="1783080"/>
            <a:ext cx="6035040" cy="411480"/>
          </a:xfrm>
          <a:prstGeom prst="rect">
            <a:avLst/>
          </a:prstGeom>
          <a:noFill/>
        </p:spPr>
        <p:txBody>
          <a:bodyPr wrap="square" anchor="t" lIns="45720" rIns="45720">
            <a:spAutoFit/>
          </a:bodyPr>
          <a:lstStyle/>
          <a:p>
            <a:pPr algn="l">
              <a:spcAft>
                <a:spcPts val="600"/>
              </a:spcAft>
            </a:pPr>
            <a:r>
              <a:rPr sz="1600" b="1" i="0">
                <a:solidFill>
                  <a:srgbClr val="A42530"/>
                </a:solidFill>
                <a:latin typeface="Arial"/>
              </a:rPr>
              <a:t>1. </a:t>
            </a:r>
            <a:r>
              <a:rPr sz="1600" b="0" i="0">
                <a:solidFill>
                  <a:srgbClr val="1F1F1F"/>
                </a:solidFill>
                <a:latin typeface="Arial"/>
              </a:rPr>
              <a:t>Admin clicks "Anchor now"</a:t>
            </a:r>
          </a:p>
        </p:txBody>
      </p:sp>
      <p:pic>
        <p:nvPicPr>
          <p:cNvPr id="93" name="Picture 92" descr="p3-anchor-now.png"/>
          <p:cNvPicPr>
            <a:picLocks noChangeAspect="1"/>
          </p:cNvPicPr>
          <p:nvPr/>
        </p:nvPicPr>
        <p:blipFill>
          <a:blip r:embed="rId3"/>
          <a:stretch>
            <a:fillRect/>
          </a:stretch>
        </p:blipFill>
        <p:spPr>
          <a:xfrm>
            <a:off x="548640" y="2248376"/>
            <a:ext cx="6035040" cy="1309687"/>
          </a:xfrm>
          <a:prstGeom prst="rect">
            <a:avLst/>
          </a:prstGeom>
          <a:ln w="12700">
            <a:solidFill>
              <a:srgbClr val="BFBFBF"/>
            </a:solidFill>
          </a:ln>
        </p:spPr>
      </p:pic>
      <p:sp>
        <p:nvSpPr>
          <p:cNvPr id="94" name="Rounded Rectangle 93"/>
          <p:cNvSpPr/>
          <p:nvPr/>
        </p:nvSpPr>
        <p:spPr>
          <a:xfrm>
            <a:off x="548640" y="3749039"/>
            <a:ext cx="6035040" cy="868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400" b="1" i="0">
                <a:solidFill>
                  <a:srgbClr val="1F1F1F"/>
                </a:solidFill>
                <a:latin typeface="Arial"/>
              </a:rPr>
              <a:t>Result: </a:t>
            </a:r>
            <a:r>
              <a:rPr sz="1400" b="0" i="0">
                <a:solidFill>
                  <a:srgbClr val="1F1F1F"/>
                </a:solidFill>
                <a:latin typeface="Arial"/>
              </a:rPr>
              <a:t>the root is written to our contract and the batch links to the transaction.</a:t>
            </a:r>
          </a:p>
        </p:txBody>
      </p:sp>
      <p:sp>
        <p:nvSpPr>
          <p:cNvPr id="95" name="TextBox 94"/>
          <p:cNvSpPr txBox="1"/>
          <p:nvPr/>
        </p:nvSpPr>
        <p:spPr>
          <a:xfrm>
            <a:off x="6812280" y="1783080"/>
            <a:ext cx="4846320" cy="411480"/>
          </a:xfrm>
          <a:prstGeom prst="rect">
            <a:avLst/>
          </a:prstGeom>
          <a:noFill/>
        </p:spPr>
        <p:txBody>
          <a:bodyPr wrap="square" anchor="t" lIns="45720" rIns="45720">
            <a:spAutoFit/>
          </a:bodyPr>
          <a:lstStyle/>
          <a:p>
            <a:pPr algn="l">
              <a:spcAft>
                <a:spcPts val="600"/>
              </a:spcAft>
            </a:pPr>
            <a:r>
              <a:rPr sz="1600" b="1" i="0">
                <a:solidFill>
                  <a:srgbClr val="A42530"/>
                </a:solidFill>
                <a:latin typeface="Arial"/>
              </a:rPr>
              <a:t>2. </a:t>
            </a:r>
            <a:r>
              <a:rPr sz="1600" b="0" i="0">
                <a:solidFill>
                  <a:srgbClr val="1F1F1F"/>
                </a:solidFill>
                <a:latin typeface="Arial"/>
              </a:rPr>
              <a:t>PolygonScan → verifyRoot → exists = true</a:t>
            </a:r>
          </a:p>
        </p:txBody>
      </p:sp>
      <p:pic>
        <p:nvPicPr>
          <p:cNvPr id="96" name="Picture 95" descr="p3-verifyroot.png"/>
          <p:cNvPicPr>
            <a:picLocks noChangeAspect="1"/>
          </p:cNvPicPr>
          <p:nvPr/>
        </p:nvPicPr>
        <p:blipFill>
          <a:blip r:embed="rId4"/>
          <a:stretch>
            <a:fillRect/>
          </a:stretch>
        </p:blipFill>
        <p:spPr>
          <a:xfrm>
            <a:off x="6812280" y="2289753"/>
            <a:ext cx="4846320" cy="2278493"/>
          </a:xfrm>
          <a:prstGeom prst="rect">
            <a:avLst/>
          </a:prstGeom>
          <a:ln w="12700">
            <a:solidFill>
              <a:srgbClr val="BFBFBF"/>
            </a:solidFill>
          </a:ln>
        </p:spPr>
      </p:pic>
      <p:sp>
        <p:nvSpPr>
          <p:cNvPr id="97" name="Rounded Rectangle 96"/>
          <p:cNvSpPr/>
          <p:nvPr/>
        </p:nvSpPr>
        <p:spPr>
          <a:xfrm>
            <a:off x="548640" y="4846320"/>
            <a:ext cx="11109960" cy="82296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600" b="1" i="0">
                <a:solidFill>
                  <a:srgbClr val="1F1F1F"/>
                </a:solidFill>
                <a:latin typeface="Arial"/>
              </a:rPr>
              <a:t>This answer comes from the Polygon blockchain, not from CareerVault. </a:t>
            </a:r>
            <a:r>
              <a:rPr sz="1600" b="0" i="0">
                <a:solidFill>
                  <a:srgbClr val="1F1F1F"/>
                </a:solidFill>
                <a:latin typeface="Arial"/>
              </a:rPr>
              <a:t>Anyone in the world can check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4  ·  </a:t>
            </a:r>
            <a:r>
              <a:rPr sz="3000" b="1" i="0">
                <a:solidFill>
                  <a:srgbClr val="1F1F1F"/>
                </a:solidFill>
                <a:latin typeface="Arial"/>
              </a:rPr>
              <a:t>The hashing pipeline in 5 steps</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Rounded Rectangle 91"/>
          <p:cNvSpPr/>
          <p:nvPr/>
        </p:nvSpPr>
        <p:spPr>
          <a:xfrm>
            <a:off x="548640" y="1783080"/>
            <a:ext cx="11091672" cy="54864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800" b="1" i="0">
                <a:solidFill>
                  <a:srgbClr val="1F1F1F"/>
                </a:solidFill>
                <a:latin typeface="Courier New"/>
              </a:rPr>
              <a:t>document_hash = SHA-256( JCS(content) + salt )</a:t>
            </a:r>
          </a:p>
        </p:txBody>
      </p:sp>
      <p:sp>
        <p:nvSpPr>
          <p:cNvPr id="93" name="Oval 92"/>
          <p:cNvSpPr/>
          <p:nvPr/>
        </p:nvSpPr>
        <p:spPr>
          <a:xfrm>
            <a:off x="1280160" y="2560320"/>
            <a:ext cx="502920" cy="50292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1</a:t>
            </a:r>
          </a:p>
        </p:txBody>
      </p:sp>
      <p:sp>
        <p:nvSpPr>
          <p:cNvPr id="94" name="Rounded Rectangle 93"/>
          <p:cNvSpPr/>
          <p:nvPr/>
        </p:nvSpPr>
        <p:spPr>
          <a:xfrm>
            <a:off x="548640" y="3200400"/>
            <a:ext cx="192024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JCS</a:t>
            </a:r>
          </a:p>
          <a:p>
            <a:pPr algn="ctr">
              <a:spcAft>
                <a:spcPts val="600"/>
              </a:spcAft>
            </a:pPr>
            <a:r>
              <a:rPr sz="1300" b="0" i="0">
                <a:solidFill>
                  <a:srgbClr val="1F1F1F"/>
                </a:solidFill>
                <a:latin typeface="Arial"/>
              </a:rPr>
              <a:t>Sort keys, fixed format (RFC 8785)</a:t>
            </a:r>
          </a:p>
        </p:txBody>
      </p:sp>
      <p:sp>
        <p:nvSpPr>
          <p:cNvPr id="95" name="TextBox 94"/>
          <p:cNvSpPr txBox="1"/>
          <p:nvPr/>
        </p:nvSpPr>
        <p:spPr>
          <a:xfrm>
            <a:off x="548640" y="4617720"/>
            <a:ext cx="1920240" cy="685800"/>
          </a:xfrm>
          <a:prstGeom prst="rect">
            <a:avLst/>
          </a:prstGeom>
          <a:noFill/>
        </p:spPr>
        <p:txBody>
          <a:bodyPr wrap="square" anchor="t" lIns="45720" rIns="45720">
            <a:spAutoFit/>
          </a:bodyPr>
          <a:lstStyle/>
          <a:p>
            <a:pPr algn="ctr">
              <a:spcAft>
                <a:spcPts val="600"/>
              </a:spcAft>
            </a:pPr>
            <a:r>
              <a:rPr sz="1100" b="0" i="0">
                <a:solidFill>
                  <a:srgbClr val="555555"/>
                </a:solidFill>
                <a:latin typeface="Courier New"/>
              </a:rPr>
              <a:t>{"basicPaise":…}</a:t>
            </a:r>
          </a:p>
        </p:txBody>
      </p:sp>
      <p:sp>
        <p:nvSpPr>
          <p:cNvPr id="96" name="Right Arrow 95"/>
          <p:cNvSpPr/>
          <p:nvPr/>
        </p:nvSpPr>
        <p:spPr>
          <a:xfrm>
            <a:off x="2496312" y="3703320"/>
            <a:ext cx="29260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547872" y="2560320"/>
            <a:ext cx="502920" cy="50292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2</a:t>
            </a:r>
          </a:p>
        </p:txBody>
      </p:sp>
      <p:sp>
        <p:nvSpPr>
          <p:cNvPr id="98" name="Rounded Rectangle 97"/>
          <p:cNvSpPr/>
          <p:nvPr/>
        </p:nvSpPr>
        <p:spPr>
          <a:xfrm>
            <a:off x="2816352" y="3200400"/>
            <a:ext cx="192024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Add salt</a:t>
            </a:r>
          </a:p>
          <a:p>
            <a:pPr algn="ctr">
              <a:spcAft>
                <a:spcPts val="600"/>
              </a:spcAft>
            </a:pPr>
            <a:r>
              <a:rPr sz="1300" b="0" i="0">
                <a:solidFill>
                  <a:srgbClr val="1F1F1F"/>
                </a:solidFill>
                <a:latin typeface="Arial"/>
              </a:rPr>
              <a:t>32 random bytes, added at the end</a:t>
            </a:r>
          </a:p>
        </p:txBody>
      </p:sp>
      <p:sp>
        <p:nvSpPr>
          <p:cNvPr id="99" name="TextBox 98"/>
          <p:cNvSpPr txBox="1"/>
          <p:nvPr/>
        </p:nvSpPr>
        <p:spPr>
          <a:xfrm>
            <a:off x="2816352" y="4617720"/>
            <a:ext cx="1920240" cy="685800"/>
          </a:xfrm>
          <a:prstGeom prst="rect">
            <a:avLst/>
          </a:prstGeom>
          <a:noFill/>
        </p:spPr>
        <p:txBody>
          <a:bodyPr wrap="square" anchor="t" lIns="45720" rIns="45720">
            <a:spAutoFit/>
          </a:bodyPr>
          <a:lstStyle/>
          <a:p>
            <a:pPr algn="ctr">
              <a:spcAft>
                <a:spcPts val="600"/>
              </a:spcAft>
            </a:pPr>
            <a:r>
              <a:rPr sz="1100" b="0" i="0">
                <a:solidFill>
                  <a:srgbClr val="555555"/>
                </a:solidFill>
                <a:latin typeface="Courier New"/>
              </a:rPr>
              <a:t>c3d61d70…f0fcb</a:t>
            </a:r>
          </a:p>
        </p:txBody>
      </p:sp>
      <p:sp>
        <p:nvSpPr>
          <p:cNvPr id="100" name="Right Arrow 99"/>
          <p:cNvSpPr/>
          <p:nvPr/>
        </p:nvSpPr>
        <p:spPr>
          <a:xfrm>
            <a:off x="4764024" y="3703320"/>
            <a:ext cx="29260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815583" y="2560320"/>
            <a:ext cx="502920" cy="50292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3</a:t>
            </a:r>
          </a:p>
        </p:txBody>
      </p:sp>
      <p:sp>
        <p:nvSpPr>
          <p:cNvPr id="102" name="Rounded Rectangle 101"/>
          <p:cNvSpPr/>
          <p:nvPr/>
        </p:nvSpPr>
        <p:spPr>
          <a:xfrm>
            <a:off x="5084064" y="3200400"/>
            <a:ext cx="192024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SHA-256</a:t>
            </a:r>
          </a:p>
          <a:p>
            <a:pPr algn="ctr">
              <a:spcAft>
                <a:spcPts val="600"/>
              </a:spcAft>
            </a:pPr>
            <a:r>
              <a:rPr sz="1300" b="0" i="0">
                <a:solidFill>
                  <a:srgbClr val="1F1F1F"/>
                </a:solidFill>
                <a:latin typeface="Arial"/>
              </a:rPr>
              <a:t>64-character fingerprint</a:t>
            </a:r>
          </a:p>
        </p:txBody>
      </p:sp>
      <p:sp>
        <p:nvSpPr>
          <p:cNvPr id="103" name="TextBox 102"/>
          <p:cNvSpPr txBox="1"/>
          <p:nvPr/>
        </p:nvSpPr>
        <p:spPr>
          <a:xfrm>
            <a:off x="5084064" y="4617720"/>
            <a:ext cx="1920240" cy="685800"/>
          </a:xfrm>
          <a:prstGeom prst="rect">
            <a:avLst/>
          </a:prstGeom>
          <a:noFill/>
        </p:spPr>
        <p:txBody>
          <a:bodyPr wrap="square" anchor="t" lIns="45720" rIns="45720">
            <a:spAutoFit/>
          </a:bodyPr>
          <a:lstStyle/>
          <a:p>
            <a:pPr algn="ctr">
              <a:spcAft>
                <a:spcPts val="600"/>
              </a:spcAft>
            </a:pPr>
            <a:r>
              <a:rPr sz="1100" b="0" i="0">
                <a:solidFill>
                  <a:srgbClr val="555555"/>
                </a:solidFill>
                <a:latin typeface="Courier New"/>
              </a:rPr>
              <a:t>4290e4b0…17f5</a:t>
            </a:r>
          </a:p>
        </p:txBody>
      </p:sp>
      <p:sp>
        <p:nvSpPr>
          <p:cNvPr id="104" name="Right Arrow 103"/>
          <p:cNvSpPr/>
          <p:nvPr/>
        </p:nvSpPr>
        <p:spPr>
          <a:xfrm>
            <a:off x="7031736" y="3703320"/>
            <a:ext cx="29260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083296" y="2560320"/>
            <a:ext cx="502920" cy="50292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4</a:t>
            </a:r>
          </a:p>
        </p:txBody>
      </p:sp>
      <p:sp>
        <p:nvSpPr>
          <p:cNvPr id="106" name="Rounded Rectangle 105"/>
          <p:cNvSpPr/>
          <p:nvPr/>
        </p:nvSpPr>
        <p:spPr>
          <a:xfrm>
            <a:off x="7351775" y="3200400"/>
            <a:ext cx="192024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RSA-2048</a:t>
            </a:r>
          </a:p>
          <a:p>
            <a:pPr algn="ctr">
              <a:spcAft>
                <a:spcPts val="600"/>
              </a:spcAft>
            </a:pPr>
            <a:r>
              <a:rPr sz="1300" b="0" i="0">
                <a:solidFill>
                  <a:srgbClr val="1F1F1F"/>
                </a:solidFill>
                <a:latin typeface="Arial"/>
              </a:rPr>
              <a:t>Manager signs, then HR signs</a:t>
            </a:r>
          </a:p>
        </p:txBody>
      </p:sp>
      <p:sp>
        <p:nvSpPr>
          <p:cNvPr id="107" name="TextBox 106"/>
          <p:cNvSpPr txBox="1"/>
          <p:nvPr/>
        </p:nvSpPr>
        <p:spPr>
          <a:xfrm>
            <a:off x="7351775" y="4617720"/>
            <a:ext cx="1920240" cy="685800"/>
          </a:xfrm>
          <a:prstGeom prst="rect">
            <a:avLst/>
          </a:prstGeom>
          <a:noFill/>
        </p:spPr>
        <p:txBody>
          <a:bodyPr wrap="square" anchor="t" lIns="45720" rIns="45720">
            <a:spAutoFit/>
          </a:bodyPr>
          <a:lstStyle/>
          <a:p>
            <a:pPr algn="ctr">
              <a:spcAft>
                <a:spcPts val="600"/>
              </a:spcAft>
            </a:pPr>
            <a:r>
              <a:rPr sz="1100" b="0" i="0">
                <a:solidFill>
                  <a:srgbClr val="555555"/>
                </a:solidFill>
                <a:latin typeface="Courier New"/>
              </a:rPr>
              <a:t>2 signatures (RS256)</a:t>
            </a:r>
          </a:p>
        </p:txBody>
      </p:sp>
      <p:sp>
        <p:nvSpPr>
          <p:cNvPr id="108" name="Right Arrow 107"/>
          <p:cNvSpPr/>
          <p:nvPr/>
        </p:nvSpPr>
        <p:spPr>
          <a:xfrm>
            <a:off x="9299447" y="3703320"/>
            <a:ext cx="29260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0351008" y="2560320"/>
            <a:ext cx="502920" cy="50292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5</a:t>
            </a:r>
          </a:p>
        </p:txBody>
      </p:sp>
      <p:sp>
        <p:nvSpPr>
          <p:cNvPr id="110" name="Rounded Rectangle 109"/>
          <p:cNvSpPr/>
          <p:nvPr/>
        </p:nvSpPr>
        <p:spPr>
          <a:xfrm>
            <a:off x="9619488" y="3200400"/>
            <a:ext cx="192024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spcAft>
                <a:spcPts val="600"/>
              </a:spcAft>
            </a:pPr>
            <a:r>
              <a:rPr sz="1700" b="1" i="0">
                <a:solidFill>
                  <a:srgbClr val="A42530"/>
                </a:solidFill>
                <a:latin typeface="Arial"/>
              </a:rPr>
              <a:t>Merkle root</a:t>
            </a:r>
          </a:p>
          <a:p>
            <a:pPr algn="ctr">
              <a:spcAft>
                <a:spcPts val="600"/>
              </a:spcAft>
            </a:pPr>
            <a:r>
              <a:rPr sz="1300" b="0" i="0">
                <a:solidFill>
                  <a:srgbClr val="1F1F1F"/>
                </a:solidFill>
                <a:latin typeface="Arial"/>
              </a:rPr>
              <a:t>Many hashes → 1 root → Polygon</a:t>
            </a:r>
          </a:p>
        </p:txBody>
      </p:sp>
      <p:sp>
        <p:nvSpPr>
          <p:cNvPr id="111" name="TextBox 110"/>
          <p:cNvSpPr txBox="1"/>
          <p:nvPr/>
        </p:nvSpPr>
        <p:spPr>
          <a:xfrm>
            <a:off x="9619488" y="4617720"/>
            <a:ext cx="1920240" cy="685800"/>
          </a:xfrm>
          <a:prstGeom prst="rect">
            <a:avLst/>
          </a:prstGeom>
          <a:noFill/>
        </p:spPr>
        <p:txBody>
          <a:bodyPr wrap="square" anchor="t" lIns="45720" rIns="45720">
            <a:spAutoFit/>
          </a:bodyPr>
          <a:lstStyle/>
          <a:p>
            <a:pPr algn="ctr">
              <a:spcAft>
                <a:spcPts val="600"/>
              </a:spcAft>
            </a:pPr>
            <a:r>
              <a:rPr sz="1100" b="0" i="0">
                <a:solidFill>
                  <a:srgbClr val="555555"/>
                </a:solidFill>
                <a:latin typeface="Courier New"/>
              </a:rPr>
              <a:t>tx 0xdd9c5fc8…</a:t>
            </a:r>
          </a:p>
        </p:txBody>
      </p:sp>
      <p:sp>
        <p:nvSpPr>
          <p:cNvPr id="112" name="TextBox 111"/>
          <p:cNvSpPr txBox="1"/>
          <p:nvPr/>
        </p:nvSpPr>
        <p:spPr>
          <a:xfrm>
            <a:off x="548640" y="5349240"/>
            <a:ext cx="11091672" cy="411480"/>
          </a:xfrm>
          <a:prstGeom prst="rect">
            <a:avLst/>
          </a:prstGeom>
          <a:noFill/>
        </p:spPr>
        <p:txBody>
          <a:bodyPr wrap="square" anchor="t" lIns="45720" rIns="45720">
            <a:spAutoFit/>
          </a:bodyPr>
          <a:lstStyle/>
          <a:p>
            <a:pPr algn="l">
              <a:spcAft>
                <a:spcPts val="600"/>
              </a:spcAft>
            </a:pPr>
            <a:r>
              <a:rPr sz="1400" b="1" i="0">
                <a:solidFill>
                  <a:srgbClr val="1F1F1F"/>
                </a:solidFill>
                <a:latin typeface="Arial"/>
              </a:rPr>
              <a:t>Order: </a:t>
            </a:r>
            <a:r>
              <a:rPr sz="1400" b="0" i="0">
                <a:solidFill>
                  <a:srgbClr val="1F1F1F"/>
                </a:solidFill>
                <a:latin typeface="Arial"/>
              </a:rPr>
              <a:t>steps 1–4 happen when the document is signed; step 5 happens later in a batch.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A42530"/>
                </a:solidFill>
                <a:latin typeface="Arial"/>
              </a:rPr>
              <a:t>Point 4  ·  </a:t>
            </a:r>
            <a:r>
              <a:rPr sz="3000" b="1" i="0">
                <a:solidFill>
                  <a:srgbClr val="1F1F1F"/>
                </a:solidFill>
                <a:latin typeface="Arial"/>
              </a:rPr>
              <a:t>Why each step exists</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Rounded Rectangle 91"/>
          <p:cNvSpPr/>
          <p:nvPr/>
        </p:nvSpPr>
        <p:spPr>
          <a:xfrm>
            <a:off x="548640" y="1783080"/>
            <a:ext cx="2377440" cy="658368"/>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600" b="1" i="0">
                <a:solidFill>
                  <a:srgbClr val="A42530"/>
                </a:solidFill>
                <a:latin typeface="Arial"/>
              </a:rPr>
              <a:t>1  JCS</a:t>
            </a:r>
          </a:p>
        </p:txBody>
      </p:sp>
      <p:sp>
        <p:nvSpPr>
          <p:cNvPr id="93" name="Rounded Rectangle 92"/>
          <p:cNvSpPr/>
          <p:nvPr/>
        </p:nvSpPr>
        <p:spPr>
          <a:xfrm>
            <a:off x="3063240" y="1783080"/>
            <a:ext cx="8577072"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500" b="0" i="0">
                <a:solidFill>
                  <a:srgbClr val="1F1F1F"/>
                </a:solidFill>
                <a:latin typeface="Arial"/>
              </a:rPr>
              <a:t>The same data must always give the same text, and so the same hash</a:t>
            </a:r>
          </a:p>
        </p:txBody>
      </p:sp>
      <p:sp>
        <p:nvSpPr>
          <p:cNvPr id="94" name="Rounded Rectangle 93"/>
          <p:cNvSpPr/>
          <p:nvPr/>
        </p:nvSpPr>
        <p:spPr>
          <a:xfrm>
            <a:off x="548640" y="2569464"/>
            <a:ext cx="2377440" cy="658368"/>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600" b="1" i="0">
                <a:solidFill>
                  <a:srgbClr val="A42530"/>
                </a:solidFill>
                <a:latin typeface="Arial"/>
              </a:rPr>
              <a:t>2  Salt</a:t>
            </a:r>
          </a:p>
        </p:txBody>
      </p:sp>
      <p:sp>
        <p:nvSpPr>
          <p:cNvPr id="95" name="Rounded Rectangle 94"/>
          <p:cNvSpPr/>
          <p:nvPr/>
        </p:nvSpPr>
        <p:spPr>
          <a:xfrm>
            <a:off x="3063240" y="2569464"/>
            <a:ext cx="8577072"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500" b="0" i="0">
                <a:solidFill>
                  <a:srgbClr val="1F1F1F"/>
                </a:solidFill>
                <a:latin typeface="Arial"/>
              </a:rPr>
              <a:t>Nobody can guess a salary from the public hash. Deleting the salt = GDPR "right to erase"</a:t>
            </a:r>
          </a:p>
        </p:txBody>
      </p:sp>
      <p:sp>
        <p:nvSpPr>
          <p:cNvPr id="96" name="Rounded Rectangle 95"/>
          <p:cNvSpPr/>
          <p:nvPr/>
        </p:nvSpPr>
        <p:spPr>
          <a:xfrm>
            <a:off x="548640" y="3355848"/>
            <a:ext cx="2377440" cy="658368"/>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600" b="1" i="0">
                <a:solidFill>
                  <a:srgbClr val="A42530"/>
                </a:solidFill>
                <a:latin typeface="Arial"/>
              </a:rPr>
              <a:t>3  SHA-256</a:t>
            </a:r>
          </a:p>
        </p:txBody>
      </p:sp>
      <p:sp>
        <p:nvSpPr>
          <p:cNvPr id="97" name="Rounded Rectangle 96"/>
          <p:cNvSpPr/>
          <p:nvPr/>
        </p:nvSpPr>
        <p:spPr>
          <a:xfrm>
            <a:off x="3063240" y="3355848"/>
            <a:ext cx="8577072"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500" b="0" i="0">
                <a:solidFill>
                  <a:srgbClr val="1F1F1F"/>
                </a:solidFill>
                <a:latin typeface="Arial"/>
              </a:rPr>
              <a:t>Change one letter and the hash changes completely, so tampering is obvious</a:t>
            </a:r>
          </a:p>
        </p:txBody>
      </p:sp>
      <p:sp>
        <p:nvSpPr>
          <p:cNvPr id="98" name="Rounded Rectangle 97"/>
          <p:cNvSpPr/>
          <p:nvPr/>
        </p:nvSpPr>
        <p:spPr>
          <a:xfrm>
            <a:off x="548640" y="4142232"/>
            <a:ext cx="2377440" cy="658368"/>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600" b="1" i="0">
                <a:solidFill>
                  <a:srgbClr val="A42530"/>
                </a:solidFill>
                <a:latin typeface="Arial"/>
              </a:rPr>
              <a:t>4  RSA-2048</a:t>
            </a:r>
          </a:p>
        </p:txBody>
      </p:sp>
      <p:sp>
        <p:nvSpPr>
          <p:cNvPr id="99" name="Rounded Rectangle 98"/>
          <p:cNvSpPr/>
          <p:nvPr/>
        </p:nvSpPr>
        <p:spPr>
          <a:xfrm>
            <a:off x="3063240" y="4142232"/>
            <a:ext cx="8577072"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500" b="0" i="0">
                <a:solidFill>
                  <a:srgbClr val="1F1F1F"/>
                </a:solidFill>
                <a:latin typeface="Arial"/>
              </a:rPr>
              <a:t>Proves TechCorp's manager AND HR approved it. Each signs their own role statement</a:t>
            </a:r>
          </a:p>
        </p:txBody>
      </p:sp>
      <p:sp>
        <p:nvSpPr>
          <p:cNvPr id="100" name="Rounded Rectangle 99"/>
          <p:cNvSpPr/>
          <p:nvPr/>
        </p:nvSpPr>
        <p:spPr>
          <a:xfrm>
            <a:off x="548640" y="4928616"/>
            <a:ext cx="2377440" cy="658368"/>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600" b="1" i="0">
                <a:solidFill>
                  <a:srgbClr val="A42530"/>
                </a:solidFill>
                <a:latin typeface="Arial"/>
              </a:rPr>
              <a:t>5  Merkle root</a:t>
            </a:r>
          </a:p>
        </p:txBody>
      </p:sp>
      <p:sp>
        <p:nvSpPr>
          <p:cNvPr id="101" name="Rounded Rectangle 100"/>
          <p:cNvSpPr/>
          <p:nvPr/>
        </p:nvSpPr>
        <p:spPr>
          <a:xfrm>
            <a:off x="3063240" y="4928616"/>
            <a:ext cx="8577072"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600"/>
              </a:spcAft>
            </a:pPr>
            <a:r>
              <a:rPr sz="1500" b="0" i="0">
                <a:solidFill>
                  <a:srgbClr val="1F1F1F"/>
                </a:solidFill>
                <a:latin typeface="Arial"/>
              </a:rPr>
              <a:t>One blockchain transaction covers many documents; only 32 bytes, no personal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1F1F1F"/>
                </a:solidFill>
                <a:latin typeface="Arial"/>
              </a:rPr>
              <a:t>Summary: all 4 points are live</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TextBox 91"/>
          <p:cNvSpPr txBox="1"/>
          <p:nvPr/>
        </p:nvSpPr>
        <p:spPr>
          <a:xfrm>
            <a:off x="1234440" y="1783080"/>
            <a:ext cx="3291840" cy="365760"/>
          </a:xfrm>
          <a:prstGeom prst="rect">
            <a:avLst/>
          </a:prstGeom>
          <a:noFill/>
        </p:spPr>
        <p:txBody>
          <a:bodyPr wrap="square" anchor="t" lIns="45720" rIns="45720">
            <a:spAutoFit/>
          </a:bodyPr>
          <a:lstStyle/>
          <a:p>
            <a:pPr algn="l">
              <a:spcAft>
                <a:spcPts val="600"/>
              </a:spcAft>
            </a:pPr>
            <a:r>
              <a:rPr sz="1200" b="1" i="0">
                <a:solidFill>
                  <a:srgbClr val="555555"/>
                </a:solidFill>
                <a:latin typeface="Arial"/>
              </a:rPr>
              <a:t>POINT</a:t>
            </a:r>
          </a:p>
        </p:txBody>
      </p:sp>
      <p:sp>
        <p:nvSpPr>
          <p:cNvPr id="93" name="TextBox 92"/>
          <p:cNvSpPr txBox="1"/>
          <p:nvPr/>
        </p:nvSpPr>
        <p:spPr>
          <a:xfrm>
            <a:off x="4709160" y="1783080"/>
            <a:ext cx="1188720" cy="365760"/>
          </a:xfrm>
          <a:prstGeom prst="rect">
            <a:avLst/>
          </a:prstGeom>
          <a:noFill/>
        </p:spPr>
        <p:txBody>
          <a:bodyPr wrap="square" anchor="t" lIns="45720" rIns="45720">
            <a:spAutoFit/>
          </a:bodyPr>
          <a:lstStyle/>
          <a:p>
            <a:pPr algn="l">
              <a:spcAft>
                <a:spcPts val="600"/>
              </a:spcAft>
            </a:pPr>
            <a:r>
              <a:rPr sz="1200" b="1" i="0">
                <a:solidFill>
                  <a:srgbClr val="555555"/>
                </a:solidFill>
                <a:latin typeface="Arial"/>
              </a:rPr>
              <a:t>STATUS</a:t>
            </a:r>
          </a:p>
        </p:txBody>
      </p:sp>
      <p:sp>
        <p:nvSpPr>
          <p:cNvPr id="94" name="TextBox 93"/>
          <p:cNvSpPr txBox="1"/>
          <p:nvPr/>
        </p:nvSpPr>
        <p:spPr>
          <a:xfrm>
            <a:off x="6080760" y="1783080"/>
            <a:ext cx="5486400" cy="365760"/>
          </a:xfrm>
          <a:prstGeom prst="rect">
            <a:avLst/>
          </a:prstGeom>
          <a:noFill/>
        </p:spPr>
        <p:txBody>
          <a:bodyPr wrap="square" anchor="t" lIns="45720" rIns="45720">
            <a:spAutoFit/>
          </a:bodyPr>
          <a:lstStyle/>
          <a:p>
            <a:pPr algn="l">
              <a:spcAft>
                <a:spcPts val="600"/>
              </a:spcAft>
            </a:pPr>
            <a:r>
              <a:rPr sz="1200" b="1" i="0">
                <a:solidFill>
                  <a:srgbClr val="555555"/>
                </a:solidFill>
                <a:latin typeface="Arial"/>
              </a:rPr>
              <a:t>SHOW IT LIVE</a:t>
            </a:r>
          </a:p>
        </p:txBody>
      </p:sp>
      <p:sp>
        <p:nvSpPr>
          <p:cNvPr id="95" name="Rounded Rectangle 94"/>
          <p:cNvSpPr/>
          <p:nvPr/>
        </p:nvSpPr>
        <p:spPr>
          <a:xfrm>
            <a:off x="548640" y="2194560"/>
            <a:ext cx="11091672" cy="731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685800" y="2304288"/>
            <a:ext cx="512064" cy="512064"/>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1</a:t>
            </a:r>
          </a:p>
        </p:txBody>
      </p:sp>
      <p:sp>
        <p:nvSpPr>
          <p:cNvPr id="97" name="TextBox 96"/>
          <p:cNvSpPr txBox="1"/>
          <p:nvPr/>
        </p:nvSpPr>
        <p:spPr>
          <a:xfrm>
            <a:off x="1234440" y="2194560"/>
            <a:ext cx="3383280" cy="731520"/>
          </a:xfrm>
          <a:prstGeom prst="rect">
            <a:avLst/>
          </a:prstGeom>
          <a:noFill/>
        </p:spPr>
        <p:txBody>
          <a:bodyPr wrap="square" anchor="ctr" lIns="45720" rIns="45720">
            <a:spAutoFit/>
          </a:bodyPr>
          <a:lstStyle/>
          <a:p>
            <a:pPr algn="l">
              <a:spcAft>
                <a:spcPts val="600"/>
              </a:spcAft>
            </a:pPr>
            <a:r>
              <a:rPr sz="1600" b="1" i="0">
                <a:solidFill>
                  <a:srgbClr val="1F1F1F"/>
                </a:solidFill>
                <a:latin typeface="Arial"/>
              </a:rPr>
              <a:t>Works without our server</a:t>
            </a:r>
          </a:p>
        </p:txBody>
      </p:sp>
      <p:sp>
        <p:nvSpPr>
          <p:cNvPr id="98" name="Rounded Rectangle 97"/>
          <p:cNvSpPr/>
          <p:nvPr/>
        </p:nvSpPr>
        <p:spPr>
          <a:xfrm>
            <a:off x="4709160" y="2386584"/>
            <a:ext cx="105156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DONE</a:t>
            </a:r>
          </a:p>
        </p:txBody>
      </p:sp>
      <p:sp>
        <p:nvSpPr>
          <p:cNvPr id="99" name="TextBox 98"/>
          <p:cNvSpPr txBox="1"/>
          <p:nvPr/>
        </p:nvSpPr>
        <p:spPr>
          <a:xfrm>
            <a:off x="6080760" y="2194560"/>
            <a:ext cx="5486400" cy="731520"/>
          </a:xfrm>
          <a:prstGeom prst="rect">
            <a:avLst/>
          </a:prstGeom>
          <a:noFill/>
        </p:spPr>
        <p:txBody>
          <a:bodyPr wrap="square" anchor="ctr" lIns="45720" rIns="45720">
            <a:spAutoFit/>
          </a:bodyPr>
          <a:lstStyle/>
          <a:p>
            <a:pPr algn="l">
              <a:spcAft>
                <a:spcPts val="600"/>
              </a:spcAft>
            </a:pPr>
            <a:r>
              <a:rPr sz="1400" b="0" i="0">
                <a:solidFill>
                  <a:srgbClr val="1F1F1F"/>
                </a:solidFill>
                <a:latin typeface="Arial"/>
              </a:rPr>
              <a:t>Download proof file → /verify/file → tamper test</a:t>
            </a:r>
          </a:p>
        </p:txBody>
      </p:sp>
      <p:sp>
        <p:nvSpPr>
          <p:cNvPr id="100" name="Rounded Rectangle 99"/>
          <p:cNvSpPr/>
          <p:nvPr/>
        </p:nvSpPr>
        <p:spPr>
          <a:xfrm>
            <a:off x="548640" y="3063239"/>
            <a:ext cx="11091672" cy="731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85800" y="3172968"/>
            <a:ext cx="512064" cy="512064"/>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2</a:t>
            </a:r>
          </a:p>
        </p:txBody>
      </p:sp>
      <p:sp>
        <p:nvSpPr>
          <p:cNvPr id="102" name="TextBox 101"/>
          <p:cNvSpPr txBox="1"/>
          <p:nvPr/>
        </p:nvSpPr>
        <p:spPr>
          <a:xfrm>
            <a:off x="1234440" y="3063239"/>
            <a:ext cx="3383280" cy="731520"/>
          </a:xfrm>
          <a:prstGeom prst="rect">
            <a:avLst/>
          </a:prstGeom>
          <a:noFill/>
        </p:spPr>
        <p:txBody>
          <a:bodyPr wrap="square" anchor="ctr" lIns="45720" rIns="45720">
            <a:spAutoFit/>
          </a:bodyPr>
          <a:lstStyle/>
          <a:p>
            <a:pPr algn="l">
              <a:spcAft>
                <a:spcPts val="600"/>
              </a:spcAft>
            </a:pPr>
            <a:r>
              <a:rPr sz="1600" b="1" i="0">
                <a:solidFill>
                  <a:srgbClr val="1F1F1F"/>
                </a:solidFill>
                <a:latin typeface="Arial"/>
              </a:rPr>
              <a:t>Encrypted database</a:t>
            </a:r>
          </a:p>
        </p:txBody>
      </p:sp>
      <p:sp>
        <p:nvSpPr>
          <p:cNvPr id="103" name="Rounded Rectangle 102"/>
          <p:cNvSpPr/>
          <p:nvPr/>
        </p:nvSpPr>
        <p:spPr>
          <a:xfrm>
            <a:off x="4709160" y="3255263"/>
            <a:ext cx="105156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DONE</a:t>
            </a:r>
          </a:p>
        </p:txBody>
      </p:sp>
      <p:sp>
        <p:nvSpPr>
          <p:cNvPr id="104" name="TextBox 103"/>
          <p:cNvSpPr txBox="1"/>
          <p:nvPr/>
        </p:nvSpPr>
        <p:spPr>
          <a:xfrm>
            <a:off x="6080760" y="3063239"/>
            <a:ext cx="5486400" cy="731520"/>
          </a:xfrm>
          <a:prstGeom prst="rect">
            <a:avLst/>
          </a:prstGeom>
          <a:noFill/>
        </p:spPr>
        <p:txBody>
          <a:bodyPr wrap="square" anchor="ctr" lIns="45720" rIns="45720">
            <a:spAutoFit/>
          </a:bodyPr>
          <a:lstStyle/>
          <a:p>
            <a:pPr algn="l">
              <a:spcAft>
                <a:spcPts val="600"/>
              </a:spcAft>
            </a:pPr>
            <a:r>
              <a:rPr sz="1400" b="0" i="0">
                <a:solidFill>
                  <a:srgbClr val="1F1F1F"/>
                </a:solidFill>
                <a:latin typeface="Arial"/>
              </a:rPr>
              <a:t>Supabase → documents → content_json = "cvenc:v1:…"</a:t>
            </a:r>
          </a:p>
        </p:txBody>
      </p:sp>
      <p:sp>
        <p:nvSpPr>
          <p:cNvPr id="105" name="Rounded Rectangle 104"/>
          <p:cNvSpPr/>
          <p:nvPr/>
        </p:nvSpPr>
        <p:spPr>
          <a:xfrm>
            <a:off x="548640" y="3931920"/>
            <a:ext cx="11091672" cy="731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85800" y="4041648"/>
            <a:ext cx="512064" cy="512064"/>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3</a:t>
            </a:r>
          </a:p>
        </p:txBody>
      </p:sp>
      <p:sp>
        <p:nvSpPr>
          <p:cNvPr id="107" name="TextBox 106"/>
          <p:cNvSpPr txBox="1"/>
          <p:nvPr/>
        </p:nvSpPr>
        <p:spPr>
          <a:xfrm>
            <a:off x="1234440" y="3931920"/>
            <a:ext cx="3383280" cy="731520"/>
          </a:xfrm>
          <a:prstGeom prst="rect">
            <a:avLst/>
          </a:prstGeom>
          <a:noFill/>
        </p:spPr>
        <p:txBody>
          <a:bodyPr wrap="square" anchor="ctr" lIns="45720" rIns="45720">
            <a:spAutoFit/>
          </a:bodyPr>
          <a:lstStyle/>
          <a:p>
            <a:pPr algn="l">
              <a:spcAft>
                <a:spcPts val="600"/>
              </a:spcAft>
            </a:pPr>
            <a:r>
              <a:rPr sz="1600" b="1" i="0">
                <a:solidFill>
                  <a:srgbClr val="1F1F1F"/>
                </a:solidFill>
                <a:latin typeface="Arial"/>
              </a:rPr>
              <a:t>Real Polygon blockchain</a:t>
            </a:r>
          </a:p>
        </p:txBody>
      </p:sp>
      <p:sp>
        <p:nvSpPr>
          <p:cNvPr id="108" name="Rounded Rectangle 107"/>
          <p:cNvSpPr/>
          <p:nvPr/>
        </p:nvSpPr>
        <p:spPr>
          <a:xfrm>
            <a:off x="4709160" y="4123944"/>
            <a:ext cx="105156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DONE</a:t>
            </a:r>
          </a:p>
        </p:txBody>
      </p:sp>
      <p:sp>
        <p:nvSpPr>
          <p:cNvPr id="109" name="TextBox 108"/>
          <p:cNvSpPr txBox="1"/>
          <p:nvPr/>
        </p:nvSpPr>
        <p:spPr>
          <a:xfrm>
            <a:off x="6080760" y="3931920"/>
            <a:ext cx="5486400" cy="731520"/>
          </a:xfrm>
          <a:prstGeom prst="rect">
            <a:avLst/>
          </a:prstGeom>
          <a:noFill/>
        </p:spPr>
        <p:txBody>
          <a:bodyPr wrap="square" anchor="ctr" lIns="45720" rIns="45720">
            <a:spAutoFit/>
          </a:bodyPr>
          <a:lstStyle/>
          <a:p>
            <a:pPr algn="l">
              <a:spcAft>
                <a:spcPts val="600"/>
              </a:spcAft>
            </a:pPr>
            <a:r>
              <a:rPr sz="1400" b="0" i="0">
                <a:solidFill>
                  <a:srgbClr val="1F1F1F"/>
                </a:solidFill>
                <a:latin typeface="Arial"/>
              </a:rPr>
              <a:t>Admin → Anchor now → PolygonScan → verifyRoot</a:t>
            </a:r>
          </a:p>
        </p:txBody>
      </p:sp>
      <p:sp>
        <p:nvSpPr>
          <p:cNvPr id="110" name="Rounded Rectangle 109"/>
          <p:cNvSpPr/>
          <p:nvPr/>
        </p:nvSpPr>
        <p:spPr>
          <a:xfrm>
            <a:off x="548640" y="4800600"/>
            <a:ext cx="11091672" cy="731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85800" y="4910328"/>
            <a:ext cx="512064" cy="512064"/>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Arial"/>
              </a:rPr>
              <a:t>4</a:t>
            </a:r>
          </a:p>
        </p:txBody>
      </p:sp>
      <p:sp>
        <p:nvSpPr>
          <p:cNvPr id="112" name="TextBox 111"/>
          <p:cNvSpPr txBox="1"/>
          <p:nvPr/>
        </p:nvSpPr>
        <p:spPr>
          <a:xfrm>
            <a:off x="1234440" y="4800600"/>
            <a:ext cx="3383280" cy="731520"/>
          </a:xfrm>
          <a:prstGeom prst="rect">
            <a:avLst/>
          </a:prstGeom>
          <a:noFill/>
        </p:spPr>
        <p:txBody>
          <a:bodyPr wrap="square" anchor="ctr" lIns="45720" rIns="45720">
            <a:spAutoFit/>
          </a:bodyPr>
          <a:lstStyle/>
          <a:p>
            <a:pPr algn="l">
              <a:spcAft>
                <a:spcPts val="600"/>
              </a:spcAft>
            </a:pPr>
            <a:r>
              <a:rPr sz="1600" b="1" i="0">
                <a:solidFill>
                  <a:srgbClr val="1F1F1F"/>
                </a:solidFill>
                <a:latin typeface="Arial"/>
              </a:rPr>
              <a:t>Hashing pipeline</a:t>
            </a:r>
          </a:p>
        </p:txBody>
      </p:sp>
      <p:sp>
        <p:nvSpPr>
          <p:cNvPr id="113" name="Rounded Rectangle 112"/>
          <p:cNvSpPr/>
          <p:nvPr/>
        </p:nvSpPr>
        <p:spPr>
          <a:xfrm>
            <a:off x="4709160" y="4992624"/>
            <a:ext cx="1051560" cy="347472"/>
          </a:xfrm>
          <a:prstGeom prst="roundRect">
            <a:avLst>
              <a:gd name="adj" fmla="val 50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0"/>
              </a:spcAft>
            </a:pPr>
            <a:r>
              <a:rPr sz="1200" b="1" i="0">
                <a:solidFill>
                  <a:srgbClr val="FFFFFF"/>
                </a:solidFill>
                <a:latin typeface="Arial"/>
              </a:rPr>
              <a:t>DONE</a:t>
            </a:r>
          </a:p>
        </p:txBody>
      </p:sp>
      <p:sp>
        <p:nvSpPr>
          <p:cNvPr id="114" name="TextBox 113"/>
          <p:cNvSpPr txBox="1"/>
          <p:nvPr/>
        </p:nvSpPr>
        <p:spPr>
          <a:xfrm>
            <a:off x="6080760" y="4800600"/>
            <a:ext cx="5486400" cy="731520"/>
          </a:xfrm>
          <a:prstGeom prst="rect">
            <a:avLst/>
          </a:prstGeom>
          <a:noFill/>
        </p:spPr>
        <p:txBody>
          <a:bodyPr wrap="square" anchor="ctr" lIns="45720" rIns="45720">
            <a:spAutoFit/>
          </a:bodyPr>
          <a:lstStyle/>
          <a:p>
            <a:pPr algn="l">
              <a:spcAft>
                <a:spcPts val="600"/>
              </a:spcAft>
            </a:pPr>
            <a:r>
              <a:rPr sz="1400" b="0" i="0">
                <a:solidFill>
                  <a:srgbClr val="1F1F1F"/>
                </a:solidFill>
                <a:latin typeface="Arial"/>
              </a:rPr>
              <a:t>JCS → salt → SHA-256 → RSA → Merkle root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1F1F1F"/>
                </a:solidFill>
                <a:latin typeface="Arial"/>
              </a:rPr>
              <a:t/>
            </a:r>
          </a:p>
        </p:txBody>
      </p:sp>
      <p:sp>
        <p:nvSpPr>
          <p:cNvPr id="91" name="Google Shape;91;g214912aa8f3_0_0"/>
          <p:cNvSpPr txBox="1"/>
          <p:nvPr>
            <p:ph idx="12" type="sldNum"/>
          </p:nvPr>
        </p:nvSpPr>
        <p:spPr>
          <a:xfrm>
            <a:off x="10169610" y="5862996"/>
            <a:ext cx="2016210" cy="496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3F3F3F"/>
                </a:solidFill>
                <a:latin typeface="Fira Sans"/>
                <a:ea typeface="Fira Sans"/>
                <a:cs typeface="Fira Sans"/>
                <a:sym typeface="Fira Sans"/>
              </a:rPr>
              <a:t>‹#›</a:t>
            </a:fld>
            <a:endParaRPr b="0" i="0" sz="1200" u="none" cap="none" strike="noStrike">
              <a:solidFill>
                <a:srgbClr val="3F3F3F"/>
              </a:solidFill>
              <a:latin typeface="Fira Sans"/>
              <a:ea typeface="Fira Sans"/>
              <a:cs typeface="Fira Sans"/>
              <a:sym typeface="Fira Sans"/>
            </a:endParaRPr>
          </a:p>
        </p:txBody>
      </p:sp>
      <p:sp>
        <p:nvSpPr>
          <p:cNvPr id="92" name="TextBox 91"/>
          <p:cNvSpPr txBox="1"/>
          <p:nvPr/>
        </p:nvSpPr>
        <p:spPr>
          <a:xfrm>
            <a:off x="548640" y="2377440"/>
            <a:ext cx="11091672" cy="914400"/>
          </a:xfrm>
          <a:prstGeom prst="rect">
            <a:avLst/>
          </a:prstGeom>
          <a:noFill/>
        </p:spPr>
        <p:txBody>
          <a:bodyPr wrap="square" anchor="t" lIns="45720" rIns="45720">
            <a:spAutoFit/>
          </a:bodyPr>
          <a:lstStyle/>
          <a:p>
            <a:pPr algn="ctr">
              <a:spcAft>
                <a:spcPts val="600"/>
              </a:spcAft>
            </a:pPr>
            <a:r>
              <a:rPr sz="4400" b="1" i="0">
                <a:solidFill>
                  <a:srgbClr val="1F1F1F"/>
                </a:solidFill>
                <a:latin typeface="Arial"/>
              </a:rPr>
              <a:t>Thank you</a:t>
            </a:r>
          </a:p>
        </p:txBody>
      </p:sp>
      <p:sp>
        <p:nvSpPr>
          <p:cNvPr id="93" name="TextBox 92"/>
          <p:cNvSpPr txBox="1"/>
          <p:nvPr/>
        </p:nvSpPr>
        <p:spPr>
          <a:xfrm>
            <a:off x="548640" y="3383280"/>
            <a:ext cx="11091672" cy="548640"/>
          </a:xfrm>
          <a:prstGeom prst="rect">
            <a:avLst/>
          </a:prstGeom>
          <a:noFill/>
        </p:spPr>
        <p:txBody>
          <a:bodyPr wrap="square" anchor="t" lIns="45720" rIns="45720">
            <a:spAutoFit/>
          </a:bodyPr>
          <a:lstStyle/>
          <a:p>
            <a:pPr algn="ctr">
              <a:spcAft>
                <a:spcPts val="600"/>
              </a:spcAft>
            </a:pPr>
            <a:r>
              <a:rPr sz="2000" b="0" i="0">
                <a:solidFill>
                  <a:srgbClr val="555555"/>
                </a:solidFill>
                <a:latin typeface="Arial"/>
              </a:rPr>
              <a:t>Questions, then live demo</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2022-02-21T05:08:08Z</dcterms:created>
  <dc:creator>Pushpendra Kumar Dhansoia</dc:creator>
</cp:coreProperties>
</file>